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5" r:id="rId19"/>
    <p:sldId id="276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000000"/>
                </a:solidFill>
                <a:latin typeface="Arial"/>
              </a:rPr>
              <a:t>AUC-ROC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7A213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8BC-4B2C-AAF7-0670772DDD66}"/>
              </c:ext>
            </c:extLst>
          </c:dPt>
          <c:dPt>
            <c:idx val="1"/>
            <c:invertIfNegative val="0"/>
            <c:bubble3D val="0"/>
            <c:spPr>
              <a:solidFill>
                <a:srgbClr val="9A48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8BC-4B2C-AAF7-0670772DDD66}"/>
              </c:ext>
            </c:extLst>
          </c:dPt>
          <c:dPt>
            <c:idx val="2"/>
            <c:invertIfNegative val="0"/>
            <c:bubble3D val="0"/>
            <c:spPr>
              <a:solidFill>
                <a:srgbClr val="B07D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8BC-4B2C-AAF7-0670772DDD66}"/>
              </c:ext>
            </c:extLst>
          </c:dPt>
          <c:dPt>
            <c:idx val="3"/>
            <c:invertIfNegative val="0"/>
            <c:bubble3D val="0"/>
            <c:spPr>
              <a:solidFill>
                <a:srgbClr val="1C2E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8BC-4B2C-AAF7-0670772DDD66}"/>
              </c:ext>
            </c:extLst>
          </c:dPt>
          <c:dPt>
            <c:idx val="4"/>
            <c:invertIfNegative val="0"/>
            <c:bubble3D val="0"/>
            <c:spPr>
              <a:solidFill>
                <a:srgbClr val="2A4E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8BC-4B2C-AAF7-0670772DDD6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61616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CNN (NB1)</c:v>
                </c:pt>
                <c:pt idx="1">
                  <c:v>LSTM (NB1)</c:v>
                </c:pt>
                <c:pt idx="2">
                  <c:v>CNN-LSTM (NB1)</c:v>
                </c:pt>
                <c:pt idx="3">
                  <c:v>BiLSTM AE (NB2)</c:v>
                </c:pt>
                <c:pt idx="4">
                  <c:v>Keras MLP (NB3)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0.4</c:v>
                </c:pt>
                <c:pt idx="2">
                  <c:v>0.66</c:v>
                </c:pt>
                <c:pt idx="3">
                  <c:v>0.86499999999999999</c:v>
                </c:pt>
                <c:pt idx="4">
                  <c:v>0.872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8BC-4B2C-AAF7-0670772DDD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908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D8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90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8F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pt-BR" sz="1100" b="0" i="0" u="none" strike="noStrike">
                <a:solidFill>
                  <a:srgbClr val="000000"/>
                </a:solidFill>
                <a:latin typeface="Arial"/>
              </a:rPr>
              <a:t>F1-Score (%)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F1-Score (%)</c:v>
                </c:pt>
              </c:strCache>
            </c:strRef>
          </c:tx>
          <c:spPr>
            <a:solidFill>
              <a:srgbClr val="7A213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92-4B81-B6A3-C9B95ACAC731}"/>
              </c:ext>
            </c:extLst>
          </c:dPt>
          <c:dPt>
            <c:idx val="1"/>
            <c:invertIfNegative val="0"/>
            <c:bubble3D val="0"/>
            <c:spPr>
              <a:solidFill>
                <a:srgbClr val="9A48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B92-4B81-B6A3-C9B95ACAC731}"/>
              </c:ext>
            </c:extLst>
          </c:dPt>
          <c:dPt>
            <c:idx val="2"/>
            <c:invertIfNegative val="0"/>
            <c:bubble3D val="0"/>
            <c:spPr>
              <a:solidFill>
                <a:srgbClr val="B07D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B92-4B81-B6A3-C9B95ACAC731}"/>
              </c:ext>
            </c:extLst>
          </c:dPt>
          <c:dPt>
            <c:idx val="3"/>
            <c:invertIfNegative val="0"/>
            <c:bubble3D val="0"/>
            <c:spPr>
              <a:solidFill>
                <a:srgbClr val="1C2E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B92-4B81-B6A3-C9B95ACAC731}"/>
              </c:ext>
            </c:extLst>
          </c:dPt>
          <c:dPt>
            <c:idx val="4"/>
            <c:invertIfNegative val="0"/>
            <c:bubble3D val="0"/>
            <c:spPr>
              <a:solidFill>
                <a:srgbClr val="2A4E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B92-4B81-B6A3-C9B95ACAC73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61616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CNN (NB1)</c:v>
                </c:pt>
                <c:pt idx="1">
                  <c:v>LSTM (NB1)</c:v>
                </c:pt>
                <c:pt idx="2">
                  <c:v>CNN-LSTM (NB1)</c:v>
                </c:pt>
                <c:pt idx="3">
                  <c:v>BiLSTM AE (NB2)</c:v>
                </c:pt>
                <c:pt idx="4">
                  <c:v>Keras MLP (NB3)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5.47</c:v>
                </c:pt>
                <c:pt idx="1">
                  <c:v>0</c:v>
                </c:pt>
                <c:pt idx="2">
                  <c:v>3.16</c:v>
                </c:pt>
                <c:pt idx="3">
                  <c:v>5.78</c:v>
                </c:pt>
                <c:pt idx="4">
                  <c:v>4.5199999999999996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B92-4B81-B6A3-C9B95ACAC73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908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</c:scaling>
        <c:delete val="0"/>
        <c:axPos val="l"/>
        <c:majorGridlines>
          <c:spPr>
            <a:ln w="6350" cap="flat">
              <a:solidFill>
                <a:srgbClr val="D8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90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8F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02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8321040" cy="36576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87829" y="213741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Detection in Wind Turbines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87829" y="302437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 using SCADA time-series data and deep learning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7829" y="3371850"/>
            <a:ext cx="53035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7829" y="346329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87829" y="366445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CARE_To_Compare · Wind Farm C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85309" y="3445002"/>
            <a:ext cx="9144" cy="457200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3422469" y="346329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22469" y="366445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· LSTM · CNN-LSTM · Autoencoders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19949" y="3445002"/>
            <a:ext cx="9144" cy="457200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257109" y="346329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 &amp; DATE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57109" y="366445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Heleno · April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Research Question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deep learning automatically detect mechanical anomalies in wind turbines from raw SCADA sensor readings — and which paradigm performs better under severe class imbalance?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565910"/>
            <a:ext cx="4069080" cy="100584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Shape 6"/>
          <p:cNvSpPr/>
          <p:nvPr/>
        </p:nvSpPr>
        <p:spPr>
          <a:xfrm>
            <a:off x="411480" y="1565910"/>
            <a:ext cx="45720" cy="100584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21208" y="1639062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SUPERVISED- Based on a Chinese paper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21208" y="183108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1 · CNN-LSTM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204139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learns the difference between Normal and Anomaly from labeled examples. Requires annotated fault data. Output: binary label.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3300984"/>
            <a:ext cx="4069080" cy="100584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3" name="Shape 11"/>
          <p:cNvSpPr/>
          <p:nvPr/>
        </p:nvSpPr>
        <p:spPr>
          <a:xfrm>
            <a:off x="411480" y="3300984"/>
            <a:ext cx="45720" cy="1005840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21208" y="337413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SEMI-SUPERVISED – Nb3 based on the CARE Score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21208" y="35661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Notebooks 2 &amp; 3 · Autoencoders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" y="377647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learns only what normal looks like. Anomalies are deviations — detected via reconstruction error.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908771"/>
            <a:ext cx="4069080" cy="1078992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736592" y="2908771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36592" y="3128227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turbines are expensive to maintain and hard to access offshore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fault detection reduces downtime and repair costs significantly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data is abundant but anomaly labels are rare and expensive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(98% normal / 2% anomaly) is the central technical challenge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4282658"/>
            <a:ext cx="4069080" cy="640080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690872" y="4282658"/>
            <a:ext cx="45720" cy="64008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64024" y="4310090"/>
            <a:ext cx="3904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question: does semi-supervised anomaly detection outperform supervised classification when fault labels are scarce and data is heavily imbalanced?</a:t>
            </a:r>
            <a:endParaRPr lang="en-US" sz="900" dirty="0"/>
          </a:p>
        </p:txBody>
      </p:sp>
      <p:pic>
        <p:nvPicPr>
          <p:cNvPr id="1026" name="Picture 2" descr="Applied Deep Learning - Part 3: Autoencoders | by Arden Dertat | TDS  Archive | Medium">
            <a:extLst>
              <a:ext uri="{FF2B5EF4-FFF2-40B4-BE49-F238E27FC236}">
                <a16:creationId xmlns:a16="http://schemas.microsoft.com/office/drawing/2014/main" id="{E1DCF7B9-2920-F00F-365D-CDD9BBC74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3915" y="1532762"/>
            <a:ext cx="1832060" cy="103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ep Neural Network Classifier. A Scikit-learn compatible Deep Neural… | by  Will Koehrsen | Medium">
            <a:extLst>
              <a:ext uri="{FF2B5EF4-FFF2-40B4-BE49-F238E27FC236}">
                <a16:creationId xmlns:a16="http://schemas.microsoft.com/office/drawing/2014/main" id="{BD96355F-D512-12B7-D9EA-B46EBD3D8A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2" y="1532764"/>
            <a:ext cx="1994598" cy="1038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 — CARE_To_Compare Wind Farm C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11480" y="914400"/>
            <a:ext cx="192024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3.18M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1480" y="13441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914400"/>
            <a:ext cx="192024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514600" y="960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14600" y="13441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sensors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914400"/>
            <a:ext cx="192024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617720" y="960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17720" y="13441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events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720840" y="914400"/>
            <a:ext cx="192024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720840" y="960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20840" y="13441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interval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11480" y="1609344"/>
            <a:ext cx="4069080" cy="804672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21208" y="168249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Sensor Columns After 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" y="188366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physical sensors expand to 952 raw columns because angular measurements (degrees) are split into sin/cos pairs — preserving circular continuity where 359° ≈ 1°.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3218688"/>
            <a:ext cx="4069080" cy="1261872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21208" y="329184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Composition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25625"/>
              </p:ext>
            </p:extLst>
          </p:nvPr>
        </p:nvGraphicFramePr>
        <p:xfrm>
          <a:off x="521208" y="3502152"/>
          <a:ext cx="3840480" cy="6858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Type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NB1 / NB2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NB3 (Keras)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events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events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663440" y="1609344"/>
            <a:ext cx="4069080" cy="2139696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4773168" y="168249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Imbalance — The Central Challenge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773168" y="1929384"/>
            <a:ext cx="3776481" cy="228600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4818888" y="1947672"/>
            <a:ext cx="3200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98.1%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8549649" y="1929384"/>
            <a:ext cx="73143" cy="22860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888455"/>
              </p:ext>
            </p:extLst>
          </p:nvPr>
        </p:nvGraphicFramePr>
        <p:xfrm>
          <a:off x="4773168" y="2212848"/>
          <a:ext cx="3794760" cy="685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Class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Samples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Share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60,897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4727448" y="3840480"/>
            <a:ext cx="3941064" cy="841248"/>
          </a:xfrm>
          <a:prstGeom prst="rect">
            <a:avLst/>
          </a:prstGeom>
          <a:solidFill>
            <a:srgbClr val="F5EAE8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7"/>
          <p:cNvSpPr/>
          <p:nvPr/>
        </p:nvSpPr>
        <p:spPr>
          <a:xfrm>
            <a:off x="4727448" y="3840480"/>
            <a:ext cx="45720" cy="841248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8"/>
          <p:cNvSpPr/>
          <p:nvPr/>
        </p:nvSpPr>
        <p:spPr>
          <a:xfrm>
            <a:off x="4846320" y="3788229"/>
            <a:ext cx="377647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ratio: 51:1. A model that always predicts "Normal" reaches 98% accuracy while detecting zero faults. Accuracy is therefore meaningless here.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Validation / Test Splits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11480" y="1138428"/>
            <a:ext cx="4069080" cy="310896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411480" y="1138428"/>
            <a:ext cx="45720" cy="310896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21208" y="12115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21208" y="14127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 by Event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" y="165963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at event boundaries — no temporal overlap between splits.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094201"/>
              </p:ext>
            </p:extLst>
          </p:nvPr>
        </p:nvGraphicFramePr>
        <p:xfrm>
          <a:off x="521208" y="197967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Split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Events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Anomaly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Normal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21208" y="304038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windowing + undersampling: Train 50K normal + 50K anomaly (1:1). Test: 532K normal + 9K anomaly (58:1 real ratio).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663440" y="1138428"/>
            <a:ext cx="4069080" cy="123444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4663440" y="1138428"/>
            <a:ext cx="45720" cy="1234440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4773168" y="121158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NB2 &amp; NB3 — SEMI-SUPERVISED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73168" y="14127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Split — 70 / 15 / 15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73168" y="165963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partition respecting time ordering of readings.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773168" y="1961388"/>
            <a:ext cx="2694737" cy="274320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4800600" y="1979676"/>
            <a:ext cx="260329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 70% · 2.23M rows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467905" y="1961388"/>
            <a:ext cx="577444" cy="27432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7486193" y="197967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045348" y="1961388"/>
            <a:ext cx="577444" cy="27432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8063636" y="197967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4663440" y="2446020"/>
            <a:ext cx="4069080" cy="457200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4663440" y="2446020"/>
            <a:ext cx="45720" cy="45720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4773168" y="2446020"/>
            <a:ext cx="3904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Anti-leakage rule: MinMaxScaler is fitted only on normal training samples — never on validation, test, or anomaly data.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63440" y="2976372"/>
            <a:ext cx="4069080" cy="457200"/>
          </a:xfrm>
          <a:prstGeom prst="rect">
            <a:avLst/>
          </a:prstGeom>
          <a:solidFill>
            <a:srgbClr val="E8F0E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663440" y="2976372"/>
            <a:ext cx="45720" cy="457200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773168" y="2976372"/>
            <a:ext cx="3904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training: only normal windows are presented during training. The model never sees a labeled anomaly.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 Pipeline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STEPS APPLIED ACROSS ALL NOTEBOOKS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11480" y="1207008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11480" y="1207008"/>
            <a:ext cx="36576" cy="347472"/>
          </a:xfrm>
          <a:prstGeom prst="rect">
            <a:avLst/>
          </a:prstGeom>
          <a:solidFill>
            <a:srgbClr val="2C4270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93776" y="120700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207008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58 event CSV files from Wind Farm 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68249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11480" y="1682496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" y="168249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168249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DataClipper — clips extreme outliers to Q0.1% and Q99.9% per feature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157984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11480" y="2157984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3776" y="215798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2157984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DuplicateValuesToNaN — sensors frozen for 6+ consecutive readings become NaN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63347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11480" y="2633472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93776" y="263347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263347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SimpleImputer — forward-fill → backward-fill → fill zeros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1480" y="310896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11480" y="3108960"/>
            <a:ext cx="36576" cy="347472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93776" y="310896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10896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encoding (NB2/3) — each angular sensor → sin + cos pair; 238 sensors → 952 columns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3584448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411480" y="3584448"/>
            <a:ext cx="36576" cy="347472"/>
          </a:xfrm>
          <a:prstGeom prst="rect">
            <a:avLst/>
          </a:prstGeom>
          <a:solidFill>
            <a:srgbClr val="2C4270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93776" y="358444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3584448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 [0,1] — fitted exclusively on normal training data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405993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411480" y="4059936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493776" y="405993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405993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→ 285 features (NB1) or 305 features (NB2/3)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005840"/>
            <a:ext cx="4069080" cy="11430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773168" y="10789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freeze/outlier detection?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3168" y="129844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SCADA hardware can freeze or spike due to communication errors. These are data quality issues, not physical anomalies, and must be removed before modelling.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2240280"/>
            <a:ext cx="4069080" cy="11430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4773168" y="23134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sin/cos for angles?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73168" y="253288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359° ↔ 1° = 358 apart (wrong!). sin/cos encoding: ≈ identical vectors ✓. Preserves circular geometry that ML models need to generalise.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3474720"/>
            <a:ext cx="4069080" cy="11430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773168" y="354787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scale only on normal data?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73168" y="376732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anomaly values influence the scaler's range, their out-of-distribution signals are compressed. Fitting only on normal data preserves anomaly extremes after scaling.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Selection — 952 → ~300 Features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154757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NB1 — Supervised (XGBoost)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355925"/>
            <a:ext cx="4069080" cy="32004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48640" y="147479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952 raw features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1502229"/>
            <a:ext cx="1947672" cy="182880"/>
          </a:xfrm>
          <a:prstGeom prst="rect">
            <a:avLst/>
          </a:prstGeom>
          <a:solidFill>
            <a:srgbClr val="9A9086"/>
          </a:solidFill>
          <a:ln w="12700">
            <a:solidFill>
              <a:srgbClr val="9A90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404872" y="1502229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1749117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Train XGBoost on 100K sampled rows, rank by feature gain. Keep top 30%.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178885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 final features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77440" y="2206317"/>
            <a:ext cx="584302" cy="18288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2404872" y="2206317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21208" y="2480637"/>
            <a:ext cx="3849624" cy="9144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8640" y="2526357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A4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Selects features most discriminative between Normal and Anomaly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2736669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Requires labels — unusable without annotated fault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1154757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NB2 &amp; NB3 — Unsupervised Filtering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355925"/>
            <a:ext cx="4069080" cy="32004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800600" y="147479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952 raw features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29400" y="1493085"/>
            <a:ext cx="1947672" cy="182880"/>
          </a:xfrm>
          <a:prstGeom prst="rect">
            <a:avLst/>
          </a:prstGeom>
          <a:solidFill>
            <a:srgbClr val="9A9086"/>
          </a:solidFill>
          <a:ln w="12700">
            <a:solidFill>
              <a:srgbClr val="9A908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656832" y="1493085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00600" y="1749117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Remove variance &lt; 0.0001 (nearly constant) → −46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00600" y="202343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906 remain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29400" y="2041725"/>
            <a:ext cx="1850288" cy="182880"/>
          </a:xfrm>
          <a:prstGeom prst="rect">
            <a:avLst/>
          </a:prstGeom>
          <a:solidFill>
            <a:srgbClr val="2C4270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6656832" y="2041725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00600" y="2297757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Remove correlation with operational vars &lt; 0.1 → −129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00600" y="257207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777 remain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29400" y="2590365"/>
            <a:ext cx="1597091" cy="182880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6656832" y="2590365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2846397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Remove inter-feature correlation &gt; 0.95 → −472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00600" y="3120717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305 final features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629400" y="3139005"/>
            <a:ext cx="623255" cy="182880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656832" y="3139005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0600" y="3971109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reference variables: power output, wind speed, sensor_144/145 (avg/max/min/std).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Modelling Approaches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56616" y="1058745"/>
            <a:ext cx="2679192" cy="310896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356616" y="1058745"/>
            <a:ext cx="2679192" cy="2743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48056" y="1113609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48056" y="1296489"/>
            <a:ext cx="2496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/ LSTM / CNN-LSTM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" y="1643961"/>
            <a:ext cx="2496312" cy="9144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668682"/>
              </p:ext>
            </p:extLst>
          </p:nvPr>
        </p:nvGraphicFramePr>
        <p:xfrm>
          <a:off x="448056" y="1680537"/>
          <a:ext cx="2560320" cy="19202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Paradigm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285 (window)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label 0/1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CrossEntropy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Undersampling 1:1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~160K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172968" y="1058745"/>
            <a:ext cx="2679192" cy="310896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3172968" y="1058745"/>
            <a:ext cx="2679192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3264408" y="1113609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2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264408" y="1296489"/>
            <a:ext cx="2496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CNN-BiLSTM Autoencoder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264408" y="1643961"/>
            <a:ext cx="2496312" cy="9144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799087"/>
              </p:ext>
            </p:extLst>
          </p:nvPr>
        </p:nvGraphicFramePr>
        <p:xfrm>
          <a:off x="3264408" y="1680537"/>
          <a:ext cx="2560320" cy="19202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Paradigm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Semi-supervised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305 (window)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Reconstruct input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normal only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~954K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5989320" y="1058745"/>
            <a:ext cx="2679192" cy="310896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5989320" y="1058745"/>
            <a:ext cx="2679192" cy="2743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6"/>
          <p:cNvSpPr/>
          <p:nvPr/>
        </p:nvSpPr>
        <p:spPr>
          <a:xfrm>
            <a:off x="6080760" y="1113609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3</a:t>
            </a:r>
            <a:endParaRPr lang="en-US" sz="700" dirty="0"/>
          </a:p>
        </p:txBody>
      </p:sp>
      <p:sp>
        <p:nvSpPr>
          <p:cNvPr id="21" name="Text 17"/>
          <p:cNvSpPr/>
          <p:nvPr/>
        </p:nvSpPr>
        <p:spPr>
          <a:xfrm>
            <a:off x="6080760" y="1296489"/>
            <a:ext cx="2496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Keras MLP Autoencoder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080760" y="1643961"/>
            <a:ext cx="2496312" cy="9144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2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76567"/>
              </p:ext>
            </p:extLst>
          </p:nvPr>
        </p:nvGraphicFramePr>
        <p:xfrm>
          <a:off x="6080760" y="1680537"/>
          <a:ext cx="2560320" cy="19202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Paradigm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Semi-supervised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 / Keras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 (single sample)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Reconstruct input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normal only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~150K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" name="Shape 19"/>
          <p:cNvSpPr/>
          <p:nvPr/>
        </p:nvSpPr>
        <p:spPr>
          <a:xfrm>
            <a:off x="356616" y="4259145"/>
            <a:ext cx="8321040" cy="475488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0"/>
          <p:cNvSpPr/>
          <p:nvPr/>
        </p:nvSpPr>
        <p:spPr>
          <a:xfrm>
            <a:off x="356616" y="4259145"/>
            <a:ext cx="45720" cy="4754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1"/>
          <p:cNvSpPr/>
          <p:nvPr/>
        </p:nvSpPr>
        <p:spPr>
          <a:xfrm>
            <a:off x="466344" y="4259145"/>
            <a:ext cx="81564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difference: NB1 is told "this is what a fault looks like." NB2 and NB3 are told "this is what healthy operation looks like — flag anything else." NB3 operates pointwise (no temporal context); NB2 operates over 6-hour windows.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CNN-LSTM — Supervised Pipeline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411480" y="1170432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93776" y="117043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17043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58 CSVs → split by event (no window overlap across splits)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59105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11480" y="1591056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93776" y="159105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159105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 fitted on normal train data only → normalize [0, 1]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201168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411480" y="2011680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93776" y="201168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201168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feature selection on 100K sample → top 30% = 285 features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2432304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11480" y="2432304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3776" y="243230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2432304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windows of 36 timesteps (6 hours) — label = Anomaly if any step is anomalous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" y="2852928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411480" y="2852928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93776" y="285292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2852928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Undersampling (train only) — keep 2.3% of normal windows → balanced 1:1 training set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" y="327355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411480" y="3273552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93776" y="327355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31520" y="327355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CNN, LSTM, and CNN-LSTM with CrossEntropy loss · Adam · up to 500 epochs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369417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411480" y="3694176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93776" y="369417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" y="369417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thresholds on validation → choose threshold maximising F1-Score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1480" y="411480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411480" y="4114800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93776" y="411480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11480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optimal threshold to test set (natural 58:1 ratio) → final metrics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1170432"/>
            <a:ext cx="4069080" cy="100584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4773168" y="124358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 Labelling Strategy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73168" y="1444752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N N N N N N N N ] → 0 (Normal)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N N A N N N N N ] → 1 (Anomaly)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ANY anomaly in window → label = 1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2249424"/>
            <a:ext cx="4069080" cy="201168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773168" y="232257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Configuration</a:t>
            </a:r>
            <a:endParaRPr lang="en-US" sz="11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509964"/>
              </p:ext>
            </p:extLst>
          </p:nvPr>
        </p:nvGraphicFramePr>
        <p:xfrm>
          <a:off x="4773168" y="2542032"/>
          <a:ext cx="3931920" cy="13716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(lr = 0.001)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epochs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patience = 20 (val_loss)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(CUDA)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616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CrossEntropyLoss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CNN, LSTM, and CNN-LSTM Architectures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Convolutional Network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2537841" cy="287383"/>
          </a:xfrm>
          <a:prstGeom prst="rect">
            <a:avLst/>
          </a:prstGeom>
          <a:solidFill>
            <a:srgbClr val="F3F0E8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11480" y="1115568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(B, 36, 285)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528881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Transpose → (B, 285, 36)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11480" y="1711761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11480" y="1711761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Conv1D(285→32, k=3) + SELU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" y="2106023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MaxPool(k=2)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1480" y="2288903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11480" y="2288903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Conv1D(32→64, k=2) + SELU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2724622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MaxPool(k=3) → (B,64,5)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11480" y="2907502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11480" y="2907502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 → (B, 320)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343220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AlphaDropout(0.5)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11480" y="3526100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11480" y="3526100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320→50 + SELU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4032939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11480" y="4032939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50→10 + SELU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4443312"/>
            <a:ext cx="2537841" cy="287383"/>
          </a:xfrm>
          <a:prstGeom prst="rect">
            <a:avLst/>
          </a:prstGeom>
          <a:solidFill>
            <a:srgbClr val="F5E8E9"/>
          </a:solidFill>
          <a:ln w="9525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11480" y="4472831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21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10→2 + Softmax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27832" y="914400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Recurrent Network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27832" y="1115568"/>
            <a:ext cx="2537841" cy="287383"/>
          </a:xfrm>
          <a:prstGeom prst="rect">
            <a:avLst/>
          </a:prstGeom>
          <a:solidFill>
            <a:srgbClr val="F3F0E8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227832" y="1115568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(B, 36, 285)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27832" y="1462750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227832" y="1645630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3227832" y="1645630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LSTM(285→100)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27832" y="2010265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27832" y="2193145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227832" y="2193145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LSTM(100→80)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27832" y="2699984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last timestep → (B, 80)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27832" y="2882864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3227832" y="2882864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Dropout(0.5)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27832" y="3389702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3227832" y="3389702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80→50 + SELU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27832" y="3896541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3227832" y="3896541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50→10 + SELU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27832" y="4403380"/>
            <a:ext cx="2537841" cy="287383"/>
          </a:xfrm>
          <a:prstGeom prst="rect">
            <a:avLst/>
          </a:prstGeom>
          <a:solidFill>
            <a:srgbClr val="F5E8E9"/>
          </a:solidFill>
          <a:ln w="9525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227832" y="4403380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21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10→2 + Softmax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044184" y="914400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CNN-LSTM (best)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044184" y="1115568"/>
            <a:ext cx="2537841" cy="287383"/>
          </a:xfrm>
          <a:prstGeom prst="rect">
            <a:avLst/>
          </a:prstGeom>
          <a:solidFill>
            <a:srgbClr val="F3F0E8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6044184" y="1115568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(B, 36, 285)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44184" y="1465308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Transpose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6044184" y="1648188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6044184" y="1648188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Conv1D(285→32) + SELU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044184" y="2054116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MaxPool → (B,32,17)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6044184" y="2236996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6044184" y="2236996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Conv1D(32→64) + SELU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044184" y="2743835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MaxPool → (B,5,64)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6044184" y="2926715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6044184" y="2926715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LSTM(64→100)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044184" y="3433553"/>
            <a:ext cx="2537841" cy="287383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6044184" y="3433553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LSTM(100→80)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044184" y="3832206"/>
            <a:ext cx="2537841" cy="11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last step → (B, 80)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044184" y="4015086"/>
            <a:ext cx="2537841" cy="287383"/>
          </a:xfrm>
          <a:prstGeom prst="rect">
            <a:avLst/>
          </a:prstGeom>
          <a:solidFill>
            <a:srgbClr val="FAF8F4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6044184" y="4015086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80→50→10 + SELU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044184" y="4521925"/>
            <a:ext cx="2537841" cy="287383"/>
          </a:xfrm>
          <a:prstGeom prst="rect">
            <a:avLst/>
          </a:prstGeom>
          <a:solidFill>
            <a:srgbClr val="F5E8E9"/>
          </a:solidFill>
          <a:ln w="9525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6044184" y="4521925"/>
            <a:ext cx="2537841" cy="287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21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10→2 + Softmax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50488" y="4958043"/>
            <a:ext cx="78820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CNN-LSTM: convolutions compress 36 timesteps → 5, then LSTM learns temporal dependencies on the reduced sequence. AlphaDropout preserves SELU's self-normalising property.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CNN-BiLSTM Autoencoder — Semi-supervised Pipeline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84048" y="1328493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384048" y="1328493"/>
            <a:ext cx="36576" cy="347472"/>
          </a:xfrm>
          <a:prstGeom prst="rect">
            <a:avLst/>
          </a:prstGeom>
          <a:solidFill>
            <a:srgbClr val="2C4270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66344" y="1328493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" y="1328493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70/15/15 — preserves chronological ordering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" y="1749117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84048" y="1749117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66344" y="1749117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4088" y="1749117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DataClipper → DuplicateToNaN → Imputation → MinMaxScaler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" y="2169741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84048" y="2169741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66344" y="2169741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4088" y="2169741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feature selection → 305 features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" y="2590365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384048" y="2590365"/>
            <a:ext cx="36576" cy="347472"/>
          </a:xfrm>
          <a:prstGeom prst="rect">
            <a:avLst/>
          </a:prstGeom>
          <a:solidFill>
            <a:srgbClr val="C8C0B0"/>
          </a:solidFill>
          <a:ln w="12700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66344" y="2590365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" y="2590365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windows of 36 timesteps — train and val use only normal windows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" y="3010989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384048" y="3010989"/>
            <a:ext cx="36576" cy="347472"/>
          </a:xfrm>
          <a:prstGeom prst="rect">
            <a:avLst/>
          </a:prstGeom>
          <a:solidFill>
            <a:srgbClr val="2C4270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66344" y="3010989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4088" y="3010989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CNN-BiLSTM-Attention Autoencoder — MAE loss, mixed precision (AMP), 100 epochs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431613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84048" y="3431613"/>
            <a:ext cx="36576" cy="347472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66344" y="3431613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04088" y="3431613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per-feature thresholds (P95 and P99) on normal validation windows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048" y="3852237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384048" y="3852237"/>
            <a:ext cx="36576" cy="347472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66344" y="3852237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04088" y="3852237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if ≥ 15 of 305 features exceed their individual threshold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84048" y="4272861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384048" y="4272861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66344" y="4272861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04088" y="4272861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post-hoc refinements — feature weighting, temporal smoothing, informative mask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36008" y="1328493"/>
            <a:ext cx="4069080" cy="109728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4745736" y="1401645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Autoencoder Principle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45736" y="1602813"/>
            <a:ext cx="3886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 → Encoder → Latent → Decoder → ≈ Input  (low reconstruction error)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Anomaly → Encoder → Latent → Decoder → ≠ Input  (high reconstruction error → flag!)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36008" y="2498925"/>
            <a:ext cx="4069080" cy="932688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745736" y="2572077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8086CF0E-D011-656C-B8D4-F3FCD94E37CC}"/>
              </a:ext>
            </a:extLst>
          </p:cNvPr>
          <p:cNvSpPr/>
          <p:nvPr/>
        </p:nvSpPr>
        <p:spPr>
          <a:xfrm>
            <a:off x="4745736" y="2846397"/>
            <a:ext cx="3886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61616"/>
                </a:solidFill>
                <a:latin typeface="Courier New" pitchFamily="34" charset="0"/>
                <a:cs typeface="Courier New" pitchFamily="34" charset="-120"/>
              </a:rPr>
              <a:t>If in the 5 windows before, there are more anomalies than normal, it flags a real anomaly in the window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CNN-BiLSTM-Attention Architecture · ~954K Parameters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4069080" cy="347472"/>
          </a:xfrm>
          <a:prstGeom prst="rect">
            <a:avLst/>
          </a:prstGeom>
          <a:solidFill>
            <a:srgbClr val="F3F0E8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(B, 36, 305) — 6-hour window × 305 features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11480" y="1810512"/>
            <a:ext cx="4069080" cy="347472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11480" y="18105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Conv1D(305→64, k=3, pad=1) + SELU → (B, 36, 64)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" y="219456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captures local temporal patterns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1480" y="2359152"/>
            <a:ext cx="4069080" cy="347472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11480" y="235915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Conv1D(64→128, k=3, pad=1) + SELU → (B, 36, 128)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04949" y="2907792"/>
            <a:ext cx="4069080" cy="347472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11480" y="290779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BiLSTM(128 → 256 bidirectional) → (B, 36, 256)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29184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past + future context simultaneously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11480" y="3456432"/>
            <a:ext cx="4069080" cy="347472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11480" y="345643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BiLSTM(256 → 128 bidirectional) → (B, 36, 128)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" y="384048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11480" y="4005072"/>
            <a:ext cx="4069080" cy="347472"/>
          </a:xfrm>
          <a:prstGeom prst="rect">
            <a:avLst/>
          </a:prstGeom>
          <a:solidFill>
            <a:srgbClr val="F9F0DE"/>
          </a:solidFill>
          <a:ln w="9525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11480" y="400507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2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MultiHeadAttention(embed=128, heads=4) + LayerNorm → (B, 36, 128)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63440" y="107899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261872"/>
            <a:ext cx="4069080" cy="384048"/>
          </a:xfrm>
          <a:prstGeom prst="rect">
            <a:avLst/>
          </a:prstGeom>
          <a:solidFill>
            <a:srgbClr val="F5EDD7"/>
          </a:solidFill>
          <a:ln w="9525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663440" y="126187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7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Latent: (B, 36, 128)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663440" y="1682496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63440" y="1847088"/>
            <a:ext cx="4069080" cy="384048"/>
          </a:xfrm>
          <a:prstGeom prst="rect">
            <a:avLst/>
          </a:prstGeom>
          <a:solidFill>
            <a:srgbClr val="E8EEE4"/>
          </a:solidFill>
          <a:ln w="9525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663440" y="184708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A4E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LSTM(128→128) + SELU → (B, 36, 128)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63440" y="226771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63440" y="2432304"/>
            <a:ext cx="4069080" cy="384048"/>
          </a:xfrm>
          <a:prstGeom prst="rect">
            <a:avLst/>
          </a:prstGeom>
          <a:solidFill>
            <a:srgbClr val="E8EEE4"/>
          </a:solidFill>
          <a:ln w="9525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663440" y="2432304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A4E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LSTM(128→128) + SELU → (B, 36, 128)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2852928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Dropout(0.15)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663440" y="3017520"/>
            <a:ext cx="4069080" cy="384048"/>
          </a:xfrm>
          <a:prstGeom prst="rect">
            <a:avLst/>
          </a:prstGeom>
          <a:solidFill>
            <a:srgbClr val="E8EEE4"/>
          </a:solidFill>
          <a:ln w="9525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663440" y="301752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A4E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Linear(128→256) + SELU → (B, 36, 256)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63440" y="343814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3602736"/>
            <a:ext cx="4069080" cy="384048"/>
          </a:xfrm>
          <a:prstGeom prst="rect">
            <a:avLst/>
          </a:prstGeom>
          <a:solidFill>
            <a:srgbClr val="F5E8E9"/>
          </a:solidFill>
          <a:ln w="9525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4663440" y="3602736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21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Linear(256→305) → Reconstruction (B, 36, 305)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4096512"/>
            <a:ext cx="4069080" cy="658368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4663440" y="4096512"/>
            <a:ext cx="45720" cy="65836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4773168" y="4096512"/>
            <a:ext cx="39044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processes the sequence in both directions, capturing richer temporal dependencies. Multi-Head Attention learns which timesteps and features contribute most to reconstruction quality.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Keras MLP Autoencoder + Optuna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38328" y="121615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338328" y="1216152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20624" y="121615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21615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70/15/15 — cut points: Oct 2025 and May 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" y="163677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38328" y="1636776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20624" y="163677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163677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Pipeline: DataClipper → DuplicateToNaN → Imputation → MinMaxScaler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" y="205740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38328" y="2057400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20624" y="205740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205740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feature selection → 305 features (same strategy as NB2)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8328" y="2478024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338328" y="2478024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20624" y="247802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2478024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Study 1 (50 trials) — architecture hyperparameter search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8328" y="2898648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338328" y="2898648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20624" y="289864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2898648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Study 2 (50 trials) — adaptive threshold gamma search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8328" y="331927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38328" y="3319272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20624" y="331927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331927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final MLP autoencoder — MSE loss, 50 epochs, ExponentialDecay LR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8328" y="373989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338328" y="3739896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20624" y="373989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373989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threshold: threshold(xi) = RMSE_predicted(xi) + gamma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38328" y="416052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338328" y="4160520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20624" y="416052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416052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CARE metric — per-event and per-sample scoring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90288" y="1216152"/>
            <a:ext cx="4069080" cy="1828800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4700016" y="1289304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Optuna Hyperparameter Search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108906"/>
              </p:ext>
            </p:extLst>
          </p:nvPr>
        </p:nvGraphicFramePr>
        <p:xfrm>
          <a:off x="4700016" y="1508760"/>
          <a:ext cx="3840480" cy="13716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Parameter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Range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Best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n_layers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[1, 2, 3]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code_size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[10, 100]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learning_rate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[1e-4, 1e-2]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9.795e-4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decay_rate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[0.90, 0.999]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[0.0, 0.5]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4590288" y="3118103"/>
            <a:ext cx="4069080" cy="1943753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42" name="Text 39"/>
          <p:cNvSpPr/>
          <p:nvPr/>
        </p:nvSpPr>
        <p:spPr>
          <a:xfrm>
            <a:off x="4700016" y="319125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Threshold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4700016" y="341071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threshold(xi) = RMSE_predicted(xi) + gamma</a:t>
            </a:r>
            <a:endParaRPr lang="en-US" sz="1100" dirty="0"/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6F86FA56-8CCB-342E-9BB8-E0CEB17E94DC}"/>
              </a:ext>
            </a:extLst>
          </p:cNvPr>
          <p:cNvSpPr/>
          <p:nvPr/>
        </p:nvSpPr>
        <p:spPr>
          <a:xfrm>
            <a:off x="4700016" y="3867912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46" name="Text 40">
            <a:extLst>
              <a:ext uri="{FF2B5EF4-FFF2-40B4-BE49-F238E27FC236}">
                <a16:creationId xmlns:a16="http://schemas.microsoft.com/office/drawing/2014/main" id="{F80AB84D-FF1F-FB90-D303-ACF6EB5AFC26}"/>
              </a:ext>
            </a:extLst>
          </p:cNvPr>
          <p:cNvSpPr/>
          <p:nvPr/>
        </p:nvSpPr>
        <p:spPr>
          <a:xfrm>
            <a:off x="4700016" y="4123943"/>
            <a:ext cx="3886200" cy="755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“screenshots” a timestep and tries to reconstruct, if the reconstruction error is over the threshold, mark as a temporary anomaly. If the next 6 timesteps are anomaly, the event is marked as an anomaly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Dense MLP Architecture ~150K Parameters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1335024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536192"/>
            <a:ext cx="1851660" cy="384048"/>
          </a:xfrm>
          <a:prstGeom prst="rect">
            <a:avLst/>
          </a:prstGeom>
          <a:solidFill>
            <a:srgbClr val="F3F0E8"/>
          </a:solidFill>
          <a:ln w="9525">
            <a:solidFill>
              <a:srgbClr val="C8C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(B, 305)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956816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11480" y="2121408"/>
            <a:ext cx="1851660" cy="384048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11480" y="2121408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Dense(305-&gt;200) + PReLU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" y="2542032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1480" y="2706624"/>
            <a:ext cx="1851660" cy="384048"/>
          </a:xfrm>
          <a:prstGeom prst="rect">
            <a:avLst/>
          </a:prstGeom>
          <a:solidFill>
            <a:srgbClr val="E8EDF4"/>
          </a:solidFill>
          <a:ln w="9525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C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Dense(200-&gt;100) + PReLU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11480" y="3291840"/>
            <a:ext cx="1851660" cy="384048"/>
          </a:xfrm>
          <a:prstGeom prst="rect">
            <a:avLst/>
          </a:prstGeom>
          <a:solidFill>
            <a:srgbClr val="F5EDD7"/>
          </a:solidFill>
          <a:ln w="9525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11480" y="329184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7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Bottleneck Dense(100-&gt;35) + PReLU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537460" y="1335024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37460" y="1536192"/>
            <a:ext cx="1851660" cy="384048"/>
          </a:xfrm>
          <a:prstGeom prst="rect">
            <a:avLst/>
          </a:prstGeom>
          <a:solidFill>
            <a:srgbClr val="F5EDD7"/>
          </a:solidFill>
          <a:ln w="9525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2537460" y="1536192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7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Latent: (B, 35)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37460" y="1956816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537460" y="2121408"/>
            <a:ext cx="1851660" cy="384048"/>
          </a:xfrm>
          <a:prstGeom prst="rect">
            <a:avLst/>
          </a:prstGeom>
          <a:solidFill>
            <a:srgbClr val="E8EEE4"/>
          </a:solidFill>
          <a:ln w="9525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2537460" y="2121408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A4E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Dense(35-&gt;100) + PReLU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537460" y="2542032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537460" y="2706624"/>
            <a:ext cx="1851660" cy="384048"/>
          </a:xfrm>
          <a:prstGeom prst="rect">
            <a:avLst/>
          </a:prstGeom>
          <a:solidFill>
            <a:srgbClr val="E8EEE4"/>
          </a:solidFill>
          <a:ln w="9525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2537460" y="2706624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A4E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Dense(100-&gt;200) + PReLU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537460" y="3127248"/>
            <a:ext cx="18516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8C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2537460" y="3291840"/>
            <a:ext cx="1851660" cy="384048"/>
          </a:xfrm>
          <a:prstGeom prst="rect">
            <a:avLst/>
          </a:prstGeom>
          <a:solidFill>
            <a:srgbClr val="F5E8E9"/>
          </a:solidFill>
          <a:ln w="9525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2537460" y="329184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21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Dense(200-&gt;305) linear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069080" cy="1591056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773168" y="987552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Pointwise vs. Windowed Processing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188720"/>
          <a:ext cx="3931920" cy="11430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NB2 (BiLSTM)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NB3 (MLP)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context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timesteps (6h)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A9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shape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(B, 36, 305)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(B, 305)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Captures trends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Computational 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4663440" y="2722299"/>
            <a:ext cx="4069080" cy="1115568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4773168" y="2795451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PReLU Activation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773168" y="3005763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PReLU(x) = max(0,x) + alpha*min(0,x)  &lt;- alpha is learned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4773168" y="3307515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standard ReLU (alpha=0 fixed), the negative slope is a trained parameter allowing more flexibility in representing asymmetric sensor distributions.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4053403"/>
            <a:ext cx="4069080" cy="594360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36"/>
          <p:cNvSpPr/>
          <p:nvPr/>
        </p:nvSpPr>
        <p:spPr>
          <a:xfrm>
            <a:off x="4663440" y="4053403"/>
            <a:ext cx="45720" cy="59436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4773168" y="4053403"/>
            <a:ext cx="39044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of 35 neurons forces the encoder to compress 305 features into an essential representation of healthy operation. Anything that cannot be faithfully reconstructed is treated as anomalous.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 — What We Measure and Why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CONFUSION MATRIX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44068" y="1084217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Normal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446020" y="1073767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Anomaly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" y="1402951"/>
            <a:ext cx="4572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Normal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" y="2061319"/>
            <a:ext cx="457200" cy="551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Anomaly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76072" y="1385969"/>
            <a:ext cx="1901952" cy="658368"/>
          </a:xfrm>
          <a:prstGeom prst="rect">
            <a:avLst/>
          </a:prstGeom>
          <a:solidFill>
            <a:srgbClr val="E8EDF4"/>
          </a:solidFill>
          <a:ln w="12700">
            <a:solidFill>
              <a:srgbClr val="2C42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76072" y="1385969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True Negative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23744" y="1385969"/>
            <a:ext cx="1901952" cy="658368"/>
          </a:xfrm>
          <a:prstGeom prst="rect">
            <a:avLst/>
          </a:prstGeom>
          <a:solidFill>
            <a:srgbClr val="F5E8E9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2523744" y="1385969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Alarm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" y="2044337"/>
            <a:ext cx="1901952" cy="658368"/>
          </a:xfrm>
          <a:prstGeom prst="rect">
            <a:avLst/>
          </a:prstGeom>
          <a:solidFill>
            <a:srgbClr val="F5E8E9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76072" y="2044337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Missed fault!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23744" y="2044337"/>
            <a:ext cx="1901952" cy="658368"/>
          </a:xfrm>
          <a:prstGeom prst="rect">
            <a:avLst/>
          </a:prstGeom>
          <a:solidFill>
            <a:srgbClr val="E8EEE4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523744" y="2044337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Detected!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238282"/>
            <a:ext cx="4069080" cy="457200"/>
          </a:xfrm>
          <a:prstGeom prst="rect">
            <a:avLst/>
          </a:prstGeom>
          <a:solidFill>
            <a:srgbClr val="F5EAE8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11480" y="3238282"/>
            <a:ext cx="45720" cy="45720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21208" y="3238282"/>
            <a:ext cx="3904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predicting "Normal" always achieves 98% accuracy with zero fault detection. Accuracy is unreliable — AUC-ROC and F1 are used instead.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" y="3905794"/>
            <a:ext cx="4069080" cy="804672"/>
          </a:xfrm>
          <a:prstGeom prst="rect">
            <a:avLst/>
          </a:prstGeom>
          <a:solidFill>
            <a:srgbClr val="F3F0E8"/>
          </a:solidFill>
          <a:ln w="9525">
            <a:solidFill>
              <a:srgbClr val="D8D2C5"/>
            </a:solidFill>
            <a:prstDash val="solid"/>
          </a:ln>
          <a:effectLst>
            <a:outerShdw blurRad="38100" dist="12700" dir="8100000" algn="bl" rotWithShape="0">
              <a:srgbClr val="C8C0B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21208" y="3978946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Sample-level vs. Event-level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1208" y="418011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sample — every 10-min reading evaluated. Strict: model must be correct at each timestep.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— event detected if any sample is flagged. "Did we catch this failure?"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0" y="1138319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 DEFINITIONS</a:t>
            </a:r>
            <a:endParaRPr lang="en-US" sz="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228413"/>
              </p:ext>
            </p:extLst>
          </p:nvPr>
        </p:nvGraphicFramePr>
        <p:xfrm>
          <a:off x="4572000" y="1339487"/>
          <a:ext cx="4480560" cy="14554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Formula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Best use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/ (TP+FP)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alarms that are real faults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/ (TP+FN)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faults successfully detected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2*P*R / (P+R)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Harmonic balance of P and 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under ROC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Threshold-independent ranking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 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 = (F1_2_mean + </a:t>
                      </a:r>
                      <a:r>
                        <a:rPr lang="en-US" sz="8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WS_mean</a:t>
                      </a: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EF1_2 + 2.0 * </a:t>
                      </a:r>
                      <a:r>
                        <a:rPr lang="en-US" sz="85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Acc_mean</a:t>
                      </a: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 / 5.0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4773168" y="3293146"/>
            <a:ext cx="4069080" cy="1371600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773168" y="3293146"/>
            <a:ext cx="45720" cy="137160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882896" y="3293146"/>
            <a:ext cx="39044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= 0.5: no better than random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= 1.0: perfect separation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&lt; 0.5: worse than random (e.g. LSTM)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measures whether the model ranks anomalies above normal samples regardless of threshold — the most honest metric for imbalanced data.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Sample-Level Performance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6" name="Chart 0"/>
          <p:cNvGraphicFramePr/>
          <p:nvPr/>
        </p:nvGraphicFramePr>
        <p:xfrm>
          <a:off x="411480" y="914400"/>
          <a:ext cx="40690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63440" y="914400"/>
          <a:ext cx="40690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411480" y="3931920"/>
            <a:ext cx="160020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411480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0.55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11480" y="43708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- AUC-ROC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084832" y="3931920"/>
            <a:ext cx="160020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8"/>
          <p:cNvSpPr/>
          <p:nvPr/>
        </p:nvSpPr>
        <p:spPr>
          <a:xfrm>
            <a:off x="2084832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A2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0.40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2084832" y="43708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- AUC-ROC (worse than random)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3758184" y="3931920"/>
            <a:ext cx="160020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1"/>
          <p:cNvSpPr/>
          <p:nvPr/>
        </p:nvSpPr>
        <p:spPr>
          <a:xfrm>
            <a:off x="3758184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616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0.66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3758184" y="43708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CNN-LSTM - AUC-ROC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431536" y="3931920"/>
            <a:ext cx="160020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5431536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0.865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5431536" y="43708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AE - AUC-ROC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7104888" y="3931920"/>
            <a:ext cx="1600200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7104888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0.872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7104888" y="43708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MLP AE - AUC-ROC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Results — Sample-Level and Event-Level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82881" y="1338943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SAMPLE-LEVEL METRICS (test set)</a:t>
            </a:r>
            <a:endParaRPr lang="en-US" sz="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636398"/>
              </p:ext>
            </p:extLst>
          </p:nvPr>
        </p:nvGraphicFramePr>
        <p:xfrm>
          <a:off x="182881" y="1540111"/>
          <a:ext cx="4297680" cy="13258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Model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Precision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Recall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F1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AUC-ROC</a:t>
                      </a:r>
                      <a:endParaRPr lang="en-US" sz="8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NB1 CNN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NB1 LSTM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7A21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NB1 CNN-LSTM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NB2 P99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NB3 Keras MLP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82881" y="3167743"/>
            <a:ext cx="4069080" cy="457200"/>
          </a:xfrm>
          <a:prstGeom prst="rect">
            <a:avLst/>
          </a:prstGeom>
          <a:solidFill>
            <a:srgbClr val="F5EAE8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182881" y="3167743"/>
            <a:ext cx="45720" cy="45720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292609" y="3167743"/>
            <a:ext cx="3904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of ~2-3% across all models: the dominant challenge remains excessive false alarms from normal operational variability.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709160" y="1127325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NB2 — EVENT DETECTION (P95 threshold)</a:t>
            </a:r>
            <a:endParaRPr lang="en-US" sz="7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523056"/>
              </p:ext>
            </p:extLst>
          </p:nvPr>
        </p:nvGraphicFramePr>
        <p:xfrm>
          <a:off x="4709160" y="1328493"/>
          <a:ext cx="3977640" cy="12801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Event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Anomalous Windows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Detected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C2E52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Rate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avg.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4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4709160" y="2791533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NB3 — CARE SCORE (58 events)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2992701"/>
            <a:ext cx="1298448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1"/>
          <p:cNvSpPr/>
          <p:nvPr/>
        </p:nvSpPr>
        <p:spPr>
          <a:xfrm>
            <a:off x="4709160" y="3029277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616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0.699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709160" y="3431613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Score</a:t>
            </a:r>
            <a:endParaRPr lang="en-US" sz="800" dirty="0"/>
          </a:p>
        </p:txBody>
      </p:sp>
      <p:sp>
        <p:nvSpPr>
          <p:cNvPr id="7" name="Shape 13"/>
          <p:cNvSpPr/>
          <p:nvPr/>
        </p:nvSpPr>
        <p:spPr>
          <a:xfrm>
            <a:off x="6099048" y="2992701"/>
            <a:ext cx="1298448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6099048" y="3029277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94.1%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6099048" y="3431613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(events) 48 of 51 detected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7488936" y="2992701"/>
            <a:ext cx="1298448" cy="18288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7488936" y="3029277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4E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88.9%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7488936" y="3431613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(events) 48 of 54 alarms correct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709160" y="3870525"/>
            <a:ext cx="4069080" cy="658368"/>
          </a:xfrm>
          <a:prstGeom prst="rect">
            <a:avLst/>
          </a:prstGeom>
          <a:solidFill>
            <a:srgbClr val="E8F0E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0"/>
          <p:cNvSpPr/>
          <p:nvPr/>
        </p:nvSpPr>
        <p:spPr>
          <a:xfrm>
            <a:off x="4709160" y="3870525"/>
            <a:ext cx="45720" cy="658368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1"/>
          <p:cNvSpPr/>
          <p:nvPr/>
        </p:nvSpPr>
        <p:spPr>
          <a:xfrm>
            <a:off x="4818888" y="3870525"/>
            <a:ext cx="39044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Event-level evaluation is operationally superior: a fault event spans thousands of timesteps, so detecting even one correctly flags the whole event. This is what matters for maintenance decisions.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and Model Ranking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2730137" y="1184148"/>
            <a:ext cx="4069080" cy="502920"/>
          </a:xfrm>
          <a:prstGeom prst="rect">
            <a:avLst/>
          </a:prstGeom>
          <a:solidFill>
            <a:srgbClr val="F5EDD7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2730137" y="1184148"/>
            <a:ext cx="45720" cy="502920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2839865" y="1184148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87337" y="122072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NB3 — Keras MLP Autoencoder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87337" y="1440180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0.872 · CARE 0.699 · Event Recall 94.1% · Precision 88.9%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30137" y="1732788"/>
            <a:ext cx="4069080" cy="502920"/>
          </a:xfrm>
          <a:prstGeom prst="rect">
            <a:avLst/>
          </a:prstGeom>
          <a:solidFill>
            <a:srgbClr val="E8EDF4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730137" y="1732788"/>
            <a:ext cx="45720" cy="502920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839865" y="1732788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87337" y="176936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NB2 — CNN-BiLSTM Autoencoder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7337" y="1988820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0.865 · Event Recall 96.4% across 3 test events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30137" y="2281428"/>
            <a:ext cx="4069080" cy="502920"/>
          </a:xfrm>
          <a:prstGeom prst="rect">
            <a:avLst/>
          </a:prstGeom>
          <a:solidFill>
            <a:srgbClr val="F5E8E9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2730137" y="2281428"/>
            <a:ext cx="45720" cy="502920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839865" y="2281428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187337" y="231800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NB1 — CNN-LSTM (best supervised)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87337" y="2537460"/>
            <a:ext cx="3520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0.66 · F1 3.16% · LSTM alone: 0% across all metrics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30137" y="2903220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2730137" y="2903220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2812433" y="290322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50177" y="290322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Semi-supervised outperforms supervised under severe imbalance — AUC-ROC 0.87 vs 0.66 maximum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30137" y="3342132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2730137" y="3342132"/>
            <a:ext cx="36576" cy="347472"/>
          </a:xfrm>
          <a:prstGeom prst="rect">
            <a:avLst/>
          </a:prstGeom>
          <a:solidFill>
            <a:srgbClr val="7A2130"/>
          </a:solidFill>
          <a:ln w="12700">
            <a:solidFill>
              <a:srgbClr val="7A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2812433" y="334213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050177" y="3342132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LSTM fails completely when train/test balance differs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30137" y="3781044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2730137" y="3781044"/>
            <a:ext cx="36576" cy="347472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2812433" y="378104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050177" y="3781044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Precision (~2-3%) is the main open problem — too many false alarms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30137" y="4219956"/>
            <a:ext cx="4069080" cy="347472"/>
          </a:xfrm>
          <a:prstGeom prst="rect">
            <a:avLst/>
          </a:prstGeom>
          <a:solidFill>
            <a:srgbClr val="FAF8F4"/>
          </a:solidFill>
          <a:ln w="1905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2730137" y="4219956"/>
            <a:ext cx="36576" cy="347472"/>
          </a:xfrm>
          <a:prstGeom prst="rect">
            <a:avLst/>
          </a:prstGeom>
          <a:solidFill>
            <a:srgbClr val="2A4E1C"/>
          </a:solidFill>
          <a:ln w="12700">
            <a:solidFill>
              <a:srgbClr val="2A4E1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2812433" y="421995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050177" y="4219956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Event-level evaluation is more operationally meaningful than sample-level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8321040" cy="27432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758952"/>
            <a:ext cx="347472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356616" y="1500922"/>
            <a:ext cx="8321040" cy="2150147"/>
          </a:xfrm>
          <a:prstGeom prst="rect">
            <a:avLst/>
          </a:prstGeom>
          <a:solidFill>
            <a:srgbClr val="F5EDD7"/>
          </a:solidFill>
          <a:ln w="1905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2" name="Shape 50"/>
          <p:cNvSpPr/>
          <p:nvPr/>
        </p:nvSpPr>
        <p:spPr>
          <a:xfrm>
            <a:off x="356616" y="1541417"/>
            <a:ext cx="45720" cy="2109652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466344" y="1541416"/>
            <a:ext cx="8156448" cy="19790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high amount of False positives</a:t>
            </a:r>
            <a:b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Induce failure in the dataset using noise:</a:t>
            </a:r>
          </a:p>
          <a:p>
            <a:pPr marL="0" indent="0">
              <a:buNone/>
            </a:pPr>
            <a:endParaRPr lang="en-US" sz="2000" dirty="0">
              <a:solidFill>
                <a:srgbClr val="16161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Classifier: </a:t>
            </a:r>
            <a:r>
              <a:rPr lang="en-US" sz="2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 labelling this new Induced Anomaly</a:t>
            </a:r>
          </a:p>
          <a:p>
            <a:r>
              <a:rPr lang="en-US" sz="20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Autoencoder: </a:t>
            </a:r>
            <a:r>
              <a:rPr lang="en-US" sz="2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 with Normal data and check the reconstruction error for detecting the Induced Anomalies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20040"/>
            <a:ext cx="566928" cy="36576"/>
          </a:xfrm>
          <a:prstGeom prst="rect">
            <a:avLst/>
          </a:prstGeom>
          <a:solidFill>
            <a:srgbClr val="1C2E52"/>
          </a:solidFill>
          <a:ln w="12700">
            <a:solidFill>
              <a:srgbClr val="1C2E5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12801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i="1" dirty="0">
                <a:solidFill>
                  <a:srgbClr val="B07D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11480" y="2331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 Turbine Anomaly Detection  IC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343400" y="2743200"/>
            <a:ext cx="457200" cy="18288"/>
          </a:xfrm>
          <a:prstGeom prst="rect">
            <a:avLst/>
          </a:prstGeom>
          <a:solidFill>
            <a:srgbClr val="B07D2A"/>
          </a:solidFill>
          <a:ln w="12700">
            <a:solidFill>
              <a:srgbClr val="B07D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11480" y="28803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30815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CARE_To_Compare  Wind Farm 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108960" y="2862072"/>
            <a:ext cx="9144" cy="457200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246120" y="28803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46120" y="30815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0.872  Event Recall 94.1%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2862072"/>
            <a:ext cx="9144" cy="457200"/>
          </a:xfrm>
          <a:prstGeom prst="rect">
            <a:avLst/>
          </a:prstGeom>
          <a:solidFill>
            <a:srgbClr val="D8D2C5"/>
          </a:solidFill>
          <a:ln w="12700">
            <a:solidFill>
              <a:srgbClr val="D8D2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080760" y="28803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9A90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080760" y="30815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Heleno  April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482346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on: wind_turbine_cnn_lstm_paper.ipynb  wind_turbine_anomaly_detection_v4.ipynb  wind_turbine_autoencoder_keras_pipeline.ipynb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2940</Words>
  <Application>Microsoft Office PowerPoint</Application>
  <PresentationFormat>Apresentação na tela (16:9)</PresentationFormat>
  <Paragraphs>557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Courier New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 Turbine Anomaly Detection — IC Research</dc:title>
  <dc:subject>PptxGenJS Presentation</dc:subject>
  <dc:creator>Thiago Heleno</dc:creator>
  <cp:lastModifiedBy>Thiago Heleno</cp:lastModifiedBy>
  <cp:revision>6</cp:revision>
  <dcterms:created xsi:type="dcterms:W3CDTF">2026-04-11T22:56:54Z</dcterms:created>
  <dcterms:modified xsi:type="dcterms:W3CDTF">2026-04-22T20:32:11Z</dcterms:modified>
</cp:coreProperties>
</file>