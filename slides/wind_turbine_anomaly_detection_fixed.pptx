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00000"/>
                </a:solidFill>
                <a:latin typeface="Arial"/>
              </a:rPr>
              <a:t>AUC-ROC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7A21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BC-4B2C-AAF7-0670772DDD66}"/>
              </c:ext>
            </c:extLst>
          </c:dPt>
          <c:dPt>
            <c:idx val="1"/>
            <c:invertIfNegative val="0"/>
            <c:bubble3D val="0"/>
            <c:spPr>
              <a:solidFill>
                <a:srgbClr val="9A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BC-4B2C-AAF7-0670772DDD66}"/>
              </c:ext>
            </c:extLst>
          </c:dPt>
          <c:dPt>
            <c:idx val="2"/>
            <c:invertIfNegative val="0"/>
            <c:bubble3D val="0"/>
            <c:spPr>
              <a:solidFill>
                <a:srgbClr val="B07D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BC-4B2C-AAF7-0670772DDD66}"/>
              </c:ext>
            </c:extLst>
          </c:dPt>
          <c:dPt>
            <c:idx val="3"/>
            <c:invertIfNegative val="0"/>
            <c:bubble3D val="0"/>
            <c:spPr>
              <a:solidFill>
                <a:srgbClr val="1C2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BC-4B2C-AAF7-0670772DDD66}"/>
              </c:ext>
            </c:extLst>
          </c:dPt>
          <c:dPt>
            <c:idx val="4"/>
            <c:invertIfNegative val="0"/>
            <c:bubble3D val="0"/>
            <c:spPr>
              <a:solidFill>
                <a:srgbClr val="2A4E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BC-4B2C-AAF7-0670772DDD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161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CNN (NB1)</c:v>
                </c:pt>
                <c:pt idx="1">
                  <c:v>LSTM (NB1)</c:v>
                </c:pt>
                <c:pt idx="2">
                  <c:v>CNN-LSTM (NB1)</c:v>
                </c:pt>
                <c:pt idx="3">
                  <c:v>BiLSTM AE (NB2)</c:v>
                </c:pt>
                <c:pt idx="4">
                  <c:v>Keras MLP (NB3)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0.4</c:v>
                </c:pt>
                <c:pt idx="2">
                  <c:v>0.66</c:v>
                </c:pt>
                <c:pt idx="3">
                  <c:v>0.86499999999999999</c:v>
                </c:pt>
                <c:pt idx="4">
                  <c:v>0.872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BC-4B2C-AAF7-0670772DDD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0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D8D2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8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00000"/>
                </a:solidFill>
                <a:latin typeface="Arial"/>
              </a:rPr>
              <a:t>F1-Score (%)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7A21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92-4B81-B6A3-C9B95ACAC731}"/>
              </c:ext>
            </c:extLst>
          </c:dPt>
          <c:dPt>
            <c:idx val="1"/>
            <c:invertIfNegative val="0"/>
            <c:bubble3D val="0"/>
            <c:spPr>
              <a:solidFill>
                <a:srgbClr val="9A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92-4B81-B6A3-C9B95ACAC731}"/>
              </c:ext>
            </c:extLst>
          </c:dPt>
          <c:dPt>
            <c:idx val="2"/>
            <c:invertIfNegative val="0"/>
            <c:bubble3D val="0"/>
            <c:spPr>
              <a:solidFill>
                <a:srgbClr val="B07D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92-4B81-B6A3-C9B95ACAC731}"/>
              </c:ext>
            </c:extLst>
          </c:dPt>
          <c:dPt>
            <c:idx val="3"/>
            <c:invertIfNegative val="0"/>
            <c:bubble3D val="0"/>
            <c:spPr>
              <a:solidFill>
                <a:srgbClr val="1C2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92-4B81-B6A3-C9B95ACAC731}"/>
              </c:ext>
            </c:extLst>
          </c:dPt>
          <c:dPt>
            <c:idx val="4"/>
            <c:invertIfNegative val="0"/>
            <c:bubble3D val="0"/>
            <c:spPr>
              <a:solidFill>
                <a:srgbClr val="2A4E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B92-4B81-B6A3-C9B95ACAC7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161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CNN (NB1)</c:v>
                </c:pt>
                <c:pt idx="1">
                  <c:v>LSTM (NB1)</c:v>
                </c:pt>
                <c:pt idx="2">
                  <c:v>CNN-LSTM (NB1)</c:v>
                </c:pt>
                <c:pt idx="3">
                  <c:v>BiLSTM AE (NB2)</c:v>
                </c:pt>
                <c:pt idx="4">
                  <c:v>Keras MLP (NB3)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5.47</c:v>
                </c:pt>
                <c:pt idx="1">
                  <c:v>0</c:v>
                </c:pt>
                <c:pt idx="2">
                  <c:v>3.16</c:v>
                </c:pt>
                <c:pt idx="3">
                  <c:v>5.78</c:v>
                </c:pt>
                <c:pt idx="4">
                  <c:v>4.5199999999999996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B92-4B81-B6A3-C9B95ACAC7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0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D8D2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8F4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02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36576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87829" y="213741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in Wind Turbines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87829" y="302437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using SCADA time-series data and deep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7829" y="3371850"/>
            <a:ext cx="53035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7829" y="346329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7829" y="366445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CARE_To_Compare · Wind Farm 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85309" y="3445002"/>
            <a:ext cx="9144" cy="457200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22469" y="346329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2469" y="366445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LSTM · CNN-LSTM · Autoencoders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19949" y="3445002"/>
            <a:ext cx="9144" cy="457200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57109" y="346329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&amp; DATE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57109" y="366445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Heleno ·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Question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deep learning automatically detect mechanical anomalies in wind turbines from raw SCADA sensor readings — and which paradigm performs better under severe class imbalance?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65910"/>
            <a:ext cx="4069080" cy="100584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6"/>
          <p:cNvSpPr/>
          <p:nvPr/>
        </p:nvSpPr>
        <p:spPr>
          <a:xfrm>
            <a:off x="411480" y="1565910"/>
            <a:ext cx="45720" cy="100584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63906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SUPERVISED- Based on a Chinese paper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21208" y="183108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1 · CNN-LSTM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04139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the difference between Normal and Anomaly from labeled examples. Requires annotated fault data. Output: binary label.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300984"/>
            <a:ext cx="4069080" cy="100584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411480" y="3300984"/>
            <a:ext cx="45720" cy="1005840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1208" y="337413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SEMI-SUPERVISED – Nb3 based on the CARE Score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21208" y="35661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2 &amp; 3 · Autoencoders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7764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only what normal looks like. Anomalies are deviations — detected via reconstruction error.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2908771"/>
            <a:ext cx="4069080" cy="1078992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36592" y="2908771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3128227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turbines are expensive to maintain and hard to access offshore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fault detection reduces downtime and repair costs significantly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data is abundant but anomaly labels are rare and expensive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(98% normal / 2% anomaly) is the central technical challenge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4282658"/>
            <a:ext cx="4069080" cy="640080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690872" y="4282658"/>
            <a:ext cx="45720" cy="640080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64024" y="4310090"/>
            <a:ext cx="3904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does semi-supervised anomaly detection outperform supervised classification when fault labels are scarce and data is heavily imbalanced?</a:t>
            </a:r>
            <a:endParaRPr lang="en-US" sz="900" dirty="0"/>
          </a:p>
        </p:txBody>
      </p:sp>
      <p:pic>
        <p:nvPicPr>
          <p:cNvPr id="1026" name="Picture 2" descr="Applied Deep Learning - Part 3: Autoencoders | by Arden Dertat | TDS  Archive | Medium">
            <a:extLst>
              <a:ext uri="{FF2B5EF4-FFF2-40B4-BE49-F238E27FC236}">
                <a16:creationId xmlns:a16="http://schemas.microsoft.com/office/drawing/2014/main" id="{E1DCF7B9-2920-F00F-365D-CDD9BBC74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915" y="1532762"/>
            <a:ext cx="1832060" cy="103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ep Neural Network Classifier. A Scikit-learn compatible Deep Neural… | by  Will Koehrsen | Medium">
            <a:extLst>
              <a:ext uri="{FF2B5EF4-FFF2-40B4-BE49-F238E27FC236}">
                <a16:creationId xmlns:a16="http://schemas.microsoft.com/office/drawing/2014/main" id="{BD96355F-D512-12B7-D9EA-B46EBD3D8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42" y="1532764"/>
            <a:ext cx="1994598" cy="103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CARE_To_Compare Wind Farm 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2024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3.18M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192024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514600" y="960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1344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2024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17720" y="960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1344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events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914400"/>
            <a:ext cx="192024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720840" y="960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20840" y="1344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interval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1609344"/>
            <a:ext cx="4069080" cy="804672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21208" y="168249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Columns After 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18836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physical sensors x 4 statistics (avg, min, max, std) = 952 raw SCADA columns. Sin/cos encoding is applied as a separate preprocessing step for angular features — preserving circular continuity where 359 deg is close to 1 deg.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218688"/>
            <a:ext cx="4069080" cy="1261872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1208" y="32918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Composition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025625"/>
              </p:ext>
            </p:extLst>
          </p:nvPr>
        </p:nvGraphicFramePr>
        <p:xfrm>
          <a:off x="521208" y="3502152"/>
          <a:ext cx="3840480" cy="685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NB1 / NB2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NB3 (Keras)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events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events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663440" y="1609344"/>
            <a:ext cx="4069080" cy="2139696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773168" y="16824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— The Central Challenge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73168" y="1929384"/>
            <a:ext cx="3776481" cy="228600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818888" y="1947672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98.1%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549649" y="1929384"/>
            <a:ext cx="73143" cy="22860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88455"/>
              </p:ext>
            </p:extLst>
          </p:nvPr>
        </p:nvGraphicFramePr>
        <p:xfrm>
          <a:off x="4773168" y="2212848"/>
          <a:ext cx="3794760" cy="685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Class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Samples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Share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3,126,239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60,897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4727448" y="3840480"/>
            <a:ext cx="3941064" cy="841248"/>
          </a:xfrm>
          <a:prstGeom prst="rect">
            <a:avLst/>
          </a:prstGeom>
          <a:solidFill>
            <a:srgbClr val="F5EAE8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7"/>
          <p:cNvSpPr/>
          <p:nvPr/>
        </p:nvSpPr>
        <p:spPr>
          <a:xfrm>
            <a:off x="4727448" y="3840480"/>
            <a:ext cx="45720" cy="841248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8"/>
          <p:cNvSpPr/>
          <p:nvPr/>
        </p:nvSpPr>
        <p:spPr>
          <a:xfrm>
            <a:off x="4846320" y="3788229"/>
            <a:ext cx="37764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ratio: 51:1. A model that always predicts "Normal" reaches 98% accuracy while detecting zero faults. Accuracy is therefore meaningless here.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Validation / Test Splits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1138428"/>
            <a:ext cx="4069080" cy="310896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138428"/>
            <a:ext cx="45720" cy="310896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21208" y="12115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" y="14127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by Event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16596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at event boundaries — no temporal overlap between splits.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094201"/>
              </p:ext>
            </p:extLst>
          </p:nvPr>
        </p:nvGraphicFramePr>
        <p:xfrm>
          <a:off x="521208" y="1979676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Split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Events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Anomaly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Normal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21208" y="30403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windowing + undersampling: Train 50K normal + 50K anomaly (1:1). Test: 532K normal + 9K anomaly (58:1 real ratio).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63440" y="1138428"/>
            <a:ext cx="4069080" cy="123444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663440" y="1138428"/>
            <a:ext cx="45720" cy="1234440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773168" y="12115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NB2 &amp; NB3 — SEMI-SUPERVISED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73168" y="14127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Split — 70 / 15 / 15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73168" y="16596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partition respecting time ordering of readings.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73168" y="1961388"/>
            <a:ext cx="2694737" cy="274320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800600" y="1979676"/>
            <a:ext cx="26032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 70% · 2.23M rows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467905" y="1961388"/>
            <a:ext cx="577444" cy="274320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7486193" y="197967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8045348" y="1961388"/>
            <a:ext cx="577444" cy="27432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8063636" y="197967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4663440" y="2446020"/>
            <a:ext cx="4069080" cy="457200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663440" y="2446020"/>
            <a:ext cx="45720" cy="457200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773168" y="2446020"/>
            <a:ext cx="3904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rule: MinMaxScaler is fitted only on normal training samples — never on validation, test, or anomaly data.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2976372"/>
            <a:ext cx="4069080" cy="457200"/>
          </a:xfrm>
          <a:prstGeom prst="rect">
            <a:avLst/>
          </a:prstGeom>
          <a:solidFill>
            <a:srgbClr val="E8F0E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663440" y="2976372"/>
            <a:ext cx="45720" cy="457200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4773168" y="2976372"/>
            <a:ext cx="3904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training: only normal windows are presented during training. The model never sees a labeled anomaly.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APPLIED ACROSS ALL NOTEBOOKS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36576" cy="347472"/>
          </a:xfrm>
          <a:prstGeom prst="rect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93776" y="120700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20700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58 event CSV files from Wind Farm 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8249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1480" y="1682496"/>
            <a:ext cx="36576" cy="34747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3776" y="168249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168249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DataClipper — clips extreme outliers to Q0.1% and Q99.9% per feature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36576" cy="34747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3776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15798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DuplicateValuesToNaN — sensors frozen for 6+ consecutive readings become NaN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33472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11480" y="2633472"/>
            <a:ext cx="36576" cy="34747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3776" y="26334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63347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— forward-fill → backward-fill → fill zeros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108960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11480" y="3108960"/>
            <a:ext cx="36576" cy="347472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3776" y="31089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encoding (NB2/3) — each angular sensor → sin + cos pair; 238 sensors → 952 columns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584448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11480" y="3584448"/>
            <a:ext cx="36576" cy="347472"/>
          </a:xfrm>
          <a:prstGeom prst="rect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93776" y="358444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358444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[0,1] — fitted exclusively on normal training data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05993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11480" y="4059936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93776" y="405993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405993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→ 285 features (NB1) or 305 features (NB2/3)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005840"/>
            <a:ext cx="4069080" cy="114300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773168" y="10789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freeze/outlier detection?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129844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SCADA hardware can freeze or spike due to communication errors. These are data quality issues, not physical anomalies, and must be removed before modelling.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240280"/>
            <a:ext cx="4069080" cy="114300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73168" y="2313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sin/cos for angles?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25328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359° ↔ 1° = 358 apart (wrong!). sin/cos encoding: ≈ identical vectors ✓. Preserves circular geometry that ML models need to generalise.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474720"/>
            <a:ext cx="4069080" cy="114300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773168" y="35478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scale only on normal data?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37673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anomaly values influence the scaler's range, their out-of-distribution signals are compressed. Fitting only on normal data preserves anomaly extremes after scaling.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 — 952 → ~300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154757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NB1 — Supervised (XGBoost)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55925"/>
            <a:ext cx="4069080" cy="320040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47479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952 raw features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502229"/>
            <a:ext cx="1947672" cy="182880"/>
          </a:xfrm>
          <a:prstGeom prst="rect">
            <a:avLst/>
          </a:prstGeom>
          <a:solidFill>
            <a:srgbClr val="9A9086"/>
          </a:solidFill>
          <a:ln w="12700">
            <a:solidFill>
              <a:srgbClr val="9A90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04872" y="150222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749117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Train XGBoost on 100K sampled rows, rank by feature gain. Keep top 30%.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17888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final 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206317"/>
            <a:ext cx="584302" cy="18288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404872" y="2206317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" y="2480637"/>
            <a:ext cx="3849624" cy="9144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8640" y="2526357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4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Selects features most discriminative between Normal and Anomaly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736669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labels — unusable without annotated fault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154757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NB2 &amp; NB3 — Unsupervised Filtering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355925"/>
            <a:ext cx="4069080" cy="320040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00600" y="147479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952 raw features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493085"/>
            <a:ext cx="1947672" cy="182880"/>
          </a:xfrm>
          <a:prstGeom prst="rect">
            <a:avLst/>
          </a:prstGeom>
          <a:solidFill>
            <a:srgbClr val="9A9086"/>
          </a:solidFill>
          <a:ln w="12700">
            <a:solidFill>
              <a:srgbClr val="9A90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56832" y="1493085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74911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Remove variance &lt; 0.0001 (nearly constant) → −46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202343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 remain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2041725"/>
            <a:ext cx="1850288" cy="182880"/>
          </a:xfrm>
          <a:prstGeom prst="rect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656832" y="2041725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29775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Remove correlation with operational vars &lt; 0.1 → −129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257207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 remain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2590365"/>
            <a:ext cx="1597091" cy="182880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656832" y="2590365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846397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Remove inter-feature correlation &gt; 0.95 → −472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0600" y="312071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final features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29400" y="3139005"/>
            <a:ext cx="623255" cy="182880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656832" y="3139005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971109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reference variables: power output, wind speed, sensor_144/145 (avg/max/min/std).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Modelling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56616" y="1058745"/>
            <a:ext cx="2679192" cy="310896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56616" y="1058745"/>
            <a:ext cx="2679192" cy="2743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056" y="1113609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48056" y="1296489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/ LSTM / CNN-LSTM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" y="1643961"/>
            <a:ext cx="2496312" cy="9144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668682"/>
              </p:ext>
            </p:extLst>
          </p:nvPr>
        </p:nvGraphicFramePr>
        <p:xfrm>
          <a:off x="448056" y="1680537"/>
          <a:ext cx="256032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× 285 (window)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label 0/1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Undersampling 1:1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172968" y="1058745"/>
            <a:ext cx="2679192" cy="310896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172968" y="1058745"/>
            <a:ext cx="2679192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264408" y="1113609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264408" y="1296489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CNN-BiLSTM Autoencoder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64408" y="1643961"/>
            <a:ext cx="2496312" cy="9144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799087"/>
              </p:ext>
            </p:extLst>
          </p:nvPr>
        </p:nvGraphicFramePr>
        <p:xfrm>
          <a:off x="3264408" y="1680537"/>
          <a:ext cx="256032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Semi-supervised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× 305 (window)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 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normal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~954K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5989320" y="1058745"/>
            <a:ext cx="2679192" cy="310896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5989320" y="1058745"/>
            <a:ext cx="2679192" cy="2743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6080760" y="1113609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3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6080760" y="1296489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MLP Autoencoder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080760" y="1643961"/>
            <a:ext cx="2496312" cy="9144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76567"/>
              </p:ext>
            </p:extLst>
          </p:nvPr>
        </p:nvGraphicFramePr>
        <p:xfrm>
          <a:off x="6080760" y="1680537"/>
          <a:ext cx="256032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Semi-supervised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/ Keras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 (single sample)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 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normal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56616" y="4259145"/>
            <a:ext cx="8321040" cy="475488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356616" y="4259145"/>
            <a:ext cx="45720" cy="4754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466344" y="4259145"/>
            <a:ext cx="8156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difference: NB1 is told "this is what a fault looks like." NB2 and NB3 are told "this is what healthy operation looks like — flag anything else." NB3 operates pointwise (no temporal context); NB2 operates over 6-hour windows.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CNN-LSTM — Supervised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93776" y="11704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17043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58 CSVs → split by event (no window overlap across splits)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11480" y="1591056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" y="15910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159105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fitted on normal train data only → normalize [0, 1]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011680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11480" y="2011680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3776" y="20116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01168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feature selection on 100K sample → top 30% = 285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432304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11480" y="2432304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3776" y="24323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43230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of 36 timesteps (6 hours) — label = Anomaly if any step is anomalous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852928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11480" y="2852928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93776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285292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(train only) — keep 2.3% of normal windows → balanced 1:1 training set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273552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11480" y="3273552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93776" y="327355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327355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CNN, LSTM, and CNN-LSTM with CrossEntropy loss · Adam · up to 500 epochs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69417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11480" y="3694176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93776" y="369417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369417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thresholds on validation → choose threshold maximising F1-Score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114800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11480" y="4114800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93776" y="41148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411480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optimal threshold to test set (natural 58:1 ratio) → final metrics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170432"/>
            <a:ext cx="4069080" cy="100584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73168" y="12435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 Labelling Strategy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14447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 N N N N N N N ] → 0 (Normal)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 N A N N N N N ] → 1 (Anomaly)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ANY anomaly in window → label =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249424"/>
            <a:ext cx="4069080" cy="201168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773168" y="23225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509964"/>
              </p:ext>
            </p:extLst>
          </p:nvPr>
        </p:nvGraphicFramePr>
        <p:xfrm>
          <a:off x="4773168" y="2542032"/>
          <a:ext cx="3931920" cy="1371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(lr = 0.001)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= 20 (val_loss)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(CUDA)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CNN, LSTM, and CNN-LSTM Architectures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Network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2537841" cy="287383"/>
          </a:xfrm>
          <a:prstGeom prst="rect">
            <a:avLst/>
          </a:prstGeom>
          <a:solidFill>
            <a:srgbClr val="F3F0E8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(B, 36, 285)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528881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Transpose → (B, 285, 36)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11761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711761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Conv1D(285→32, k=3) + SELU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106023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MaxPool(k=2)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2288903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288903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Conv1D(32→64, k=2) + SELU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724622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MaxPool(k=3) → (B,64,5)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1480" y="2907502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2907502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 → (B, 320)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343220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AlphaDropout(0.5)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" y="3526100"/>
            <a:ext cx="2537841" cy="287383"/>
          </a:xfrm>
          <a:prstGeom prst="rect">
            <a:avLst/>
          </a:prstGeom>
          <a:solidFill>
            <a:srgbClr val="FAF8F4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526100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320→50 + SELU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4032939"/>
            <a:ext cx="2537841" cy="287383"/>
          </a:xfrm>
          <a:prstGeom prst="rect">
            <a:avLst/>
          </a:prstGeom>
          <a:solidFill>
            <a:srgbClr val="FAF8F4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4032939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50→10 + SELU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4443312"/>
            <a:ext cx="2537841" cy="287383"/>
          </a:xfrm>
          <a:prstGeom prst="rect">
            <a:avLst/>
          </a:prstGeom>
          <a:solidFill>
            <a:srgbClr val="F5E8E9"/>
          </a:solidFill>
          <a:ln w="9525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11480" y="4472831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21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10→2 + Softmax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27832" y="914400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Recurrent Network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27832" y="1115568"/>
            <a:ext cx="2537841" cy="287383"/>
          </a:xfrm>
          <a:prstGeom prst="rect">
            <a:avLst/>
          </a:prstGeom>
          <a:solidFill>
            <a:srgbClr val="F3F0E8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227832" y="1115568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(B, 36, 285)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27832" y="1462750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27832" y="1645630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227832" y="1645630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LSTM(285→100)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27832" y="2010265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27832" y="2193145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227832" y="2193145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LSTM(100→80)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27832" y="2699984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last timestep → (B, 80)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27832" y="2882864"/>
            <a:ext cx="2537841" cy="287383"/>
          </a:xfrm>
          <a:prstGeom prst="rect">
            <a:avLst/>
          </a:prstGeom>
          <a:solidFill>
            <a:srgbClr val="FAF8F4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227832" y="2882864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Dropout(0.5)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27832" y="3389702"/>
            <a:ext cx="2537841" cy="287383"/>
          </a:xfrm>
          <a:prstGeom prst="rect">
            <a:avLst/>
          </a:prstGeom>
          <a:solidFill>
            <a:srgbClr val="FAF8F4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227832" y="3389702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80→50 + SELU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27832" y="3896541"/>
            <a:ext cx="2537841" cy="287383"/>
          </a:xfrm>
          <a:prstGeom prst="rect">
            <a:avLst/>
          </a:prstGeom>
          <a:solidFill>
            <a:srgbClr val="FAF8F4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227832" y="3896541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50→10 + SELU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27832" y="4403380"/>
            <a:ext cx="2537841" cy="287383"/>
          </a:xfrm>
          <a:prstGeom prst="rect">
            <a:avLst/>
          </a:prstGeom>
          <a:solidFill>
            <a:srgbClr val="F5E8E9"/>
          </a:solidFill>
          <a:ln w="9525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27832" y="4403380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21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10→2 + Softmax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44184" y="914400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CNN-LSTM (best)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44184" y="1115568"/>
            <a:ext cx="2537841" cy="287383"/>
          </a:xfrm>
          <a:prstGeom prst="rect">
            <a:avLst/>
          </a:prstGeom>
          <a:solidFill>
            <a:srgbClr val="F3F0E8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044184" y="1115568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(B, 36, 285)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44184" y="1465308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Transpose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044184" y="1648188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044184" y="1648188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Conv1D(285→32) + SELU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44184" y="2054116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MaxPool → (B,32,17)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044184" y="2236996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044184" y="2236996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Conv1D(32→64) + SELU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44184" y="2743835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MaxPool → (B,5,64)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044184" y="2926715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044184" y="2926715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LSTM(64→100)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44184" y="3433553"/>
            <a:ext cx="2537841" cy="287383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044184" y="3433553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LSTM(100→80)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44184" y="3832206"/>
            <a:ext cx="2537841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last step → (B, 80)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044184" y="4015086"/>
            <a:ext cx="2537841" cy="287383"/>
          </a:xfrm>
          <a:prstGeom prst="rect">
            <a:avLst/>
          </a:prstGeom>
          <a:solidFill>
            <a:srgbClr val="FAF8F4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6044184" y="4015086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80→50→10 + SELU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44184" y="4521925"/>
            <a:ext cx="2537841" cy="287383"/>
          </a:xfrm>
          <a:prstGeom prst="rect">
            <a:avLst/>
          </a:prstGeom>
          <a:solidFill>
            <a:srgbClr val="F5E8E9"/>
          </a:solidFill>
          <a:ln w="9525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6044184" y="4521925"/>
            <a:ext cx="2537841" cy="287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21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10→2 + Softmax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50488" y="4958043"/>
            <a:ext cx="7882032" cy="14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CNN-LSTM: convolutions compress 36 timesteps → 5, then LSTM learns temporal dependencies on the reduced sequence. AlphaDropout preserves SELU's self-normalising property.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CNN-BiLSTM Autoencoder — Semi-supervised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84048" y="1328493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84048" y="1328493"/>
            <a:ext cx="36576" cy="347472"/>
          </a:xfrm>
          <a:prstGeom prst="rect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344" y="1328493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1328493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70/15/15 — preserves chronological ordering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749117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84048" y="1749117"/>
            <a:ext cx="36576" cy="34747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6344" y="1749117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1749117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DataClipper → DuplicateToNaN → Imputation → MinMaxScaler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169741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84048" y="2169741"/>
            <a:ext cx="36576" cy="34747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6344" y="2169741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" y="2169741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feature selection → 305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590365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84048" y="2590365"/>
            <a:ext cx="36576" cy="34747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66344" y="2590365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" y="2590365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of 36 timesteps — train and val use only normal windows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010989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84048" y="3010989"/>
            <a:ext cx="36576" cy="347472"/>
          </a:xfrm>
          <a:prstGeom prst="rect">
            <a:avLst/>
          </a:prstGeom>
          <a:solidFill>
            <a:srgbClr val="2C4270"/>
          </a:solidFill>
          <a:ln w="1270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66344" y="3010989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" y="3010989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CNN-BiLSTM-Attention Autoencoder — MAE loss, mixed precision (AMP), 100 epochs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431613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84048" y="3431613"/>
            <a:ext cx="36576" cy="347472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6344" y="3431613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" y="3431613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per-feature thresholds (P95 and P99) on normal validation windows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852237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84048" y="3852237"/>
            <a:ext cx="36576" cy="347472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6344" y="3852237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" y="3852237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if ≥ 15 of 305 features exceed their individual threshold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4272861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384048" y="4272861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66344" y="4272861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" y="4272861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post-hoc refinements — feature weighting, temporal smoothing, informative mask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36008" y="1328493"/>
            <a:ext cx="4069080" cy="109728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45736" y="1401645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Autoencoder Principle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45736" y="1602813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→ Encoder → Latent → Decoder → ≈ Input  (low reconstruction error)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→ Encoder → Latent → Decoder → ≠ Input  (high reconstruction error → flag!)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36008" y="2498925"/>
            <a:ext cx="4069080" cy="932688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745736" y="2572077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8086CF0E-D011-656C-B8D4-F3FCD94E37CC}"/>
              </a:ext>
            </a:extLst>
          </p:cNvPr>
          <p:cNvSpPr/>
          <p:nvPr/>
        </p:nvSpPr>
        <p:spPr>
          <a:xfrm>
            <a:off x="4745736" y="2846397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1616"/>
                </a:solidFill>
                <a:latin typeface="Courier New" pitchFamily="34" charset="0"/>
                <a:cs typeface="Courier New" pitchFamily="34" charset="-120"/>
              </a:rPr>
              <a:t>If in the 5 windows before, there are more anomalies than normal, it flags a real anomaly in the window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CNN-BiLSTM-Attention Architecture · ~954K 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4069080" cy="347472"/>
          </a:xfrm>
          <a:prstGeom prst="rect">
            <a:avLst/>
          </a:prstGeom>
          <a:solidFill>
            <a:srgbClr val="F3F0E8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(B, 36, 305) — 6-hour window × 305 features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4069080" cy="347472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Conv1D(305→64, k=3, pad=1) + SELU → (B, 36, 64)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captures local temporal patterns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4069080" cy="347472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3591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Conv1D(64→128, k=3, pad=1) + SELU → (B, 36, 128)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04949" y="2907792"/>
            <a:ext cx="4069080" cy="347472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29077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BiLSTM(128 → 256 bidirectional) → (B, 36, 256)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past + future context simultaneously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4069080" cy="347472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BiLSTM(256 → 128 bidirectional) → (B, 36, 128)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84048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11480" y="4005072"/>
            <a:ext cx="4069080" cy="347472"/>
          </a:xfrm>
          <a:prstGeom prst="rect">
            <a:avLst/>
          </a:prstGeom>
          <a:solidFill>
            <a:srgbClr val="F9F0DE"/>
          </a:solidFill>
          <a:ln w="9525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80" y="40050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MultiHeadAttention(embed=128, heads=4) + LayerNorm → (B, 36, 128)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10789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261872"/>
            <a:ext cx="4069080" cy="384048"/>
          </a:xfrm>
          <a:prstGeom prst="rect">
            <a:avLst/>
          </a:prstGeom>
          <a:solidFill>
            <a:srgbClr val="F5EDD7"/>
          </a:solidFill>
          <a:ln w="9525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663440" y="12618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7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Latent: (B, 36, 128)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168249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663440" y="1847088"/>
            <a:ext cx="4069080" cy="384048"/>
          </a:xfrm>
          <a:prstGeom prst="rect">
            <a:avLst/>
          </a:prstGeom>
          <a:solidFill>
            <a:srgbClr val="E8EEE4"/>
          </a:solidFill>
          <a:ln w="9525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663440" y="184708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LSTM(128→128) + SELU → (B, 36, 128)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226771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63440" y="2432304"/>
            <a:ext cx="4069080" cy="384048"/>
          </a:xfrm>
          <a:prstGeom prst="rect">
            <a:avLst/>
          </a:prstGeom>
          <a:solidFill>
            <a:srgbClr val="E8EEE4"/>
          </a:solidFill>
          <a:ln w="9525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63440" y="243230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LSTM(128→128) + SELU → (B, 36, 128)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2852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Dropout(0.15)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63440" y="3017520"/>
            <a:ext cx="4069080" cy="384048"/>
          </a:xfrm>
          <a:prstGeom prst="rect">
            <a:avLst/>
          </a:prstGeom>
          <a:solidFill>
            <a:srgbClr val="E8EEE4"/>
          </a:solidFill>
          <a:ln w="9525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663440" y="30175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Linear(128→256) + SELU → (B, 36, 256)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43814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63440" y="3602736"/>
            <a:ext cx="4069080" cy="384048"/>
          </a:xfrm>
          <a:prstGeom prst="rect">
            <a:avLst/>
          </a:prstGeom>
          <a:solidFill>
            <a:srgbClr val="F5E8E9"/>
          </a:solidFill>
          <a:ln w="9525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663440" y="36027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21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Linear(256→305) → Reconstruction (B, 36, 305)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4096512"/>
            <a:ext cx="4069080" cy="658368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4663440" y="4096512"/>
            <a:ext cx="45720" cy="65836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773168" y="4096512"/>
            <a:ext cx="3904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processes the sequence in both directions, capturing richer temporal dependencies. Multi-Head Attention learns which timesteps and features contribute most to reconstruction quality.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Keras MLP Autoencoder + Optuna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38328" y="1216152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38328" y="1216152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20624" y="121615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21615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70/15/15 — cut points: Oct 2025 and May 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163677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38328" y="1636776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0624" y="163677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63677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Pipeline: DataClipper → DuplicateToNaN → Imputation → MinMaxScaler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2057400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38328" y="2057400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20624" y="2057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05740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feature selection → 305 features (same strategy as NB2)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" y="2478024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38328" y="2478024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20624" y="247802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247802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Study 1 (50 trials) — architecture hyperparameter search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" y="2898648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38328" y="2898648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20624" y="289864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289864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Study 2 (50 trials) — adaptive threshold gamma search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" y="3319272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38328" y="3319272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20624" y="33192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" y="331927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final MLP autoencoder — MSE loss, 50 epochs, ExponentialDecay LR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" y="373989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38328" y="3739896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20624" y="373989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373989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threshold: threshold(xi) = RMSE_predicted(xi) + gamma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" y="4160520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338328" y="4160520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20624" y="41605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" y="416052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CARE metric — per-event and per-sample scoring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90288" y="1216152"/>
            <a:ext cx="4069080" cy="1828800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700016" y="128930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 Hyperparameter Search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108906"/>
              </p:ext>
            </p:extLst>
          </p:nvPr>
        </p:nvGraphicFramePr>
        <p:xfrm>
          <a:off x="4700016" y="1508760"/>
          <a:ext cx="3840480" cy="1371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Parameter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Range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Best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n_layers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[10, 100]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[1e-4, 1e-2]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9.795e-4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decay_rate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[0.90, 0.999]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[0.0, 0.5]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4590288" y="3118103"/>
            <a:ext cx="4069080" cy="1943753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42" name="Text 39"/>
          <p:cNvSpPr/>
          <p:nvPr/>
        </p:nvSpPr>
        <p:spPr>
          <a:xfrm>
            <a:off x="4700016" y="319125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Threshold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700016" y="34107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threshold(xi) = RMSE_predicted(xi) + gamma</a:t>
            </a:r>
            <a:endParaRPr lang="en-US" sz="11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6F86FA56-8CCB-342E-9BB8-E0CEB17E94DC}"/>
              </a:ext>
            </a:extLst>
          </p:cNvPr>
          <p:cNvSpPr/>
          <p:nvPr/>
        </p:nvSpPr>
        <p:spPr>
          <a:xfrm>
            <a:off x="4700016" y="38679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F80AB84D-FF1F-FB90-D303-ACF6EB5AFC26}"/>
              </a:ext>
            </a:extLst>
          </p:cNvPr>
          <p:cNvSpPr/>
          <p:nvPr/>
        </p:nvSpPr>
        <p:spPr>
          <a:xfrm>
            <a:off x="4700016" y="4123943"/>
            <a:ext cx="3886200" cy="755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“screenshots” a timestep and tries to reconstruct, if the reconstruction error is over the threshold, mark as a temporary anomaly. If the next 6 timesteps are anomaly, the event is marked as an anomaly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MLP Architecture ~150K 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335024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1851660" cy="384048"/>
          </a:xfrm>
          <a:prstGeom prst="rect">
            <a:avLst/>
          </a:prstGeom>
          <a:solidFill>
            <a:srgbClr val="F3F0E8"/>
          </a:solidFill>
          <a:ln w="9525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(B, 305)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1851660" cy="384048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Dense(305-&gt;200) + PReLU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2706624"/>
            <a:ext cx="1851660" cy="384048"/>
          </a:xfrm>
          <a:prstGeom prst="rect">
            <a:avLst/>
          </a:prstGeom>
          <a:solidFill>
            <a:srgbClr val="E8EDF4"/>
          </a:solidFill>
          <a:ln w="9525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Dense(200-&gt;100) + PReLU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1851660" cy="384048"/>
          </a:xfrm>
          <a:prstGeom prst="rect">
            <a:avLst/>
          </a:prstGeom>
          <a:solidFill>
            <a:srgbClr val="F5EDD7"/>
          </a:solidFill>
          <a:ln w="9525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329184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7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Bottleneck Dense(100-&gt;35) + PReLU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37460" y="1335024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37460" y="1536192"/>
            <a:ext cx="1851660" cy="384048"/>
          </a:xfrm>
          <a:prstGeom prst="rect">
            <a:avLst/>
          </a:prstGeom>
          <a:solidFill>
            <a:srgbClr val="F5EDD7"/>
          </a:solidFill>
          <a:ln w="9525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537460" y="1536192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7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Latent: (B, 35)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37460" y="1956816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37460" y="2121408"/>
            <a:ext cx="1851660" cy="384048"/>
          </a:xfrm>
          <a:prstGeom prst="rect">
            <a:avLst/>
          </a:prstGeom>
          <a:solidFill>
            <a:srgbClr val="E8EEE4"/>
          </a:solidFill>
          <a:ln w="9525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537460" y="2121408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Dense(35-&gt;100) + PReLU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37460" y="2542032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37460" y="2706624"/>
            <a:ext cx="1851660" cy="384048"/>
          </a:xfrm>
          <a:prstGeom prst="rect">
            <a:avLst/>
          </a:prstGeom>
          <a:solidFill>
            <a:srgbClr val="E8EEE4"/>
          </a:solidFill>
          <a:ln w="9525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537460" y="2706624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4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Dense(100-&gt;200) + PReLU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37460" y="3127248"/>
            <a:ext cx="1851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8C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37460" y="3291840"/>
            <a:ext cx="1851660" cy="384048"/>
          </a:xfrm>
          <a:prstGeom prst="rect">
            <a:avLst/>
          </a:prstGeom>
          <a:solidFill>
            <a:srgbClr val="F5E8E9"/>
          </a:solidFill>
          <a:ln w="9525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537460" y="329184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21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Dense(200-&gt;305) linear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069080" cy="1591056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73168" y="9875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Pointwise vs. Windowed Processing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188720"/>
          <a:ext cx="3931920" cy="1143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NB2 (BiLSTM)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NB3 (MLP)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timesteps (6h)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A90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shape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(B, 36, 305)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(B, 305)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trends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4663440" y="2722299"/>
            <a:ext cx="4069080" cy="1115568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4773168" y="2795451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PReLU Activation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73168" y="3005763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PReLU(x) = max(0,x) + alpha*min(0,x)  &lt;- alpha is learned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73168" y="3307515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standard ReLU (alpha=0 fixed), the negative slope is a trained parameter allowing more flexibility in representing asymmetric sensor distributions.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63440" y="4053403"/>
            <a:ext cx="4069080" cy="594360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4663440" y="4053403"/>
            <a:ext cx="45720" cy="594360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4773168" y="4053403"/>
            <a:ext cx="3904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of 35 neurons forces the encoder to compress 305 features into an essential representation of healthy operation. Anything that cannot be faithfully reconstructed is treated as anomalous.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— What We Measure and Why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4068" y="1084217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Normal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46020" y="1073767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Anomaly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" y="1402951"/>
            <a:ext cx="457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Normal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" y="2061319"/>
            <a:ext cx="457200" cy="5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Anomaly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6072" y="1385969"/>
            <a:ext cx="1901952" cy="658368"/>
          </a:xfrm>
          <a:prstGeom prst="rect">
            <a:avLst/>
          </a:prstGeom>
          <a:solidFill>
            <a:srgbClr val="E8EDF4"/>
          </a:solidFill>
          <a:ln w="12700">
            <a:solidFill>
              <a:srgbClr val="2C42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76072" y="1385969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23744" y="1385969"/>
            <a:ext cx="1901952" cy="658368"/>
          </a:xfrm>
          <a:prstGeom prst="rect">
            <a:avLst/>
          </a:prstGeom>
          <a:solidFill>
            <a:srgbClr val="F5E8E9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23744" y="1385969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Alarm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" y="2044337"/>
            <a:ext cx="1901952" cy="658368"/>
          </a:xfrm>
          <a:prstGeom prst="rect">
            <a:avLst/>
          </a:prstGeom>
          <a:solidFill>
            <a:srgbClr val="F5E8E9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76072" y="2044337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fault!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23744" y="2044337"/>
            <a:ext cx="1901952" cy="658368"/>
          </a:xfrm>
          <a:prstGeom prst="rect">
            <a:avLst/>
          </a:prstGeom>
          <a:solidFill>
            <a:srgbClr val="E8EEE4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523744" y="2044337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Detected!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238282"/>
            <a:ext cx="4069080" cy="457200"/>
          </a:xfrm>
          <a:prstGeom prst="rect">
            <a:avLst/>
          </a:prstGeom>
          <a:solidFill>
            <a:srgbClr val="F5EAE8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11480" y="3238282"/>
            <a:ext cx="45720" cy="45720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21208" y="3238282"/>
            <a:ext cx="3904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"Normal" always achieves 98% accuracy with zero fault detection. Accuracy is unreliable — AUC-ROC and F1 are used instead.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905794"/>
            <a:ext cx="4069080" cy="804672"/>
          </a:xfrm>
          <a:prstGeom prst="rect">
            <a:avLst/>
          </a:prstGeom>
          <a:solidFill>
            <a:srgbClr val="F3F0E8"/>
          </a:solidFill>
          <a:ln w="9525">
            <a:solidFill>
              <a:srgbClr val="D8D2C5"/>
            </a:solidFill>
            <a:prstDash val="solid"/>
          </a:ln>
          <a:effectLst>
            <a:outerShdw blurRad="38100" dist="12700" dir="8100000" algn="bl" rotWithShape="0">
              <a:srgbClr val="C8C0B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21208" y="397894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Sample-level vs. Event-level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418011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sample — every 10-min reading evaluated. Strict: model must be correct at each timestep.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 — event detected if any sample is flagged. "Did we catch this failure?"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1138319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DEFINITIONS</a:t>
            </a:r>
            <a:endParaRPr lang="en-US" sz="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28413"/>
              </p:ext>
            </p:extLst>
          </p:nvPr>
        </p:nvGraphicFramePr>
        <p:xfrm>
          <a:off x="4572000" y="1339487"/>
          <a:ext cx="4480560" cy="14554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Metric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Formula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Best use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alarms that are real faults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faults successfully detected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2*P*R / (P+R)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balance of P and 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ROC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Threshold-independent ranking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= (F1_2_mean + </a:t>
                      </a:r>
                      <a:r>
                        <a:rPr lang="en-US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WS_mean</a:t>
                      </a: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EF1_2 + 2.0 * </a:t>
                      </a:r>
                      <a:r>
                        <a:rPr lang="en-US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Acc_mean</a:t>
                      </a: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/ 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773168" y="3293146"/>
            <a:ext cx="4069080" cy="1371600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773168" y="3293146"/>
            <a:ext cx="45720" cy="1371600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4882896" y="3293146"/>
            <a:ext cx="39044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0.5: no better than random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1.0: perfect separation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&lt; 0.5: worse than random (e.g. LSTM)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measures whether the model ranks anomalies above normal samples regardless of threshold — the most honest metric for imbalanced data.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Sample-Level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914400"/>
          <a:ext cx="4069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914400"/>
          <a:ext cx="4069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3931920"/>
            <a:ext cx="160020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411480" y="3977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11480" y="4370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- AUC-ROC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084832" y="3931920"/>
            <a:ext cx="160020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2084832" y="3977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084832" y="4370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- AUC-ROC (worse than random)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758184" y="3931920"/>
            <a:ext cx="160020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3758184" y="3977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758184" y="4370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- AUC-ROC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31536" y="3931920"/>
            <a:ext cx="160020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431536" y="3977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0.865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431536" y="4370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AE - AUC-ROC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104888" y="3931920"/>
            <a:ext cx="1600200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7104888" y="3977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0.872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7104888" y="4370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MLP AE - AUC-ROC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Results — Sample-Level and Event-Level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1" y="1338943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SAMPLE-LEVEL METRICS (test set)</a:t>
            </a:r>
            <a:endParaRPr lang="en-US" sz="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36398"/>
              </p:ext>
            </p:extLst>
          </p:nvPr>
        </p:nvGraphicFramePr>
        <p:xfrm>
          <a:off x="182881" y="1540111"/>
          <a:ext cx="4297680" cy="1325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Precision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Recall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F1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AUC-ROC</a:t>
                      </a:r>
                      <a:endParaRPr lang="en-US" sz="8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NB1 CNN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NB1 LSTM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NB1 CNN-LSTM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NB2 P99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NB3 Keras MLP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1" y="3167743"/>
            <a:ext cx="4069080" cy="457200"/>
          </a:xfrm>
          <a:prstGeom prst="rect">
            <a:avLst/>
          </a:prstGeom>
          <a:solidFill>
            <a:srgbClr val="F5EAE8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82881" y="3167743"/>
            <a:ext cx="45720" cy="45720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92609" y="3167743"/>
            <a:ext cx="3904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~2-3% across all models: the dominant challenge remains excessive false alarms from normal operational variability.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09160" y="1127325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NB2 — EVENT DETECTION (P95 threshold)</a:t>
            </a:r>
            <a:endParaRPr lang="en-US" sz="7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523056"/>
              </p:ext>
            </p:extLst>
          </p:nvPr>
        </p:nvGraphicFramePr>
        <p:xfrm>
          <a:off x="4709160" y="1328493"/>
          <a:ext cx="3977640" cy="12801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Event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Anomalous Windows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Detected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E5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Rate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4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709160" y="2791533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NB3 — CARE SCORE (58 events)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709160" y="2992701"/>
            <a:ext cx="1298448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4709160" y="302927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0.699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709160" y="3431613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Score</a:t>
            </a:r>
            <a:endParaRPr lang="en-US" sz="800" dirty="0"/>
          </a:p>
        </p:txBody>
      </p:sp>
      <p:sp>
        <p:nvSpPr>
          <p:cNvPr id="7" name="Shape 13"/>
          <p:cNvSpPr/>
          <p:nvPr/>
        </p:nvSpPr>
        <p:spPr>
          <a:xfrm>
            <a:off x="6099048" y="2992701"/>
            <a:ext cx="1298448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6099048" y="302927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94.1%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099048" y="3431613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(events) 48 of 51 detected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488936" y="2992701"/>
            <a:ext cx="1298448" cy="18288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7488936" y="3029277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88.9%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7488936" y="3431613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(events) 48 of 54 alarms correct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709160" y="3870525"/>
            <a:ext cx="4069080" cy="658368"/>
          </a:xfrm>
          <a:prstGeom prst="rect">
            <a:avLst/>
          </a:prstGeom>
          <a:solidFill>
            <a:srgbClr val="E8F0E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4709160" y="3870525"/>
            <a:ext cx="45720" cy="658368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4818888" y="3870525"/>
            <a:ext cx="3904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evaluation is operationally superior: a fault event spans thousands of timesteps, so detecting even one correctly flags the whole event. This is what matters for maintenance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and Model Ranking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30137" y="1184148"/>
            <a:ext cx="4069080" cy="502920"/>
          </a:xfrm>
          <a:prstGeom prst="rect">
            <a:avLst/>
          </a:prstGeom>
          <a:solidFill>
            <a:srgbClr val="F5EDD7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30137" y="1184148"/>
            <a:ext cx="45720" cy="502920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839865" y="118414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87337" y="12207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NB3 — Keras MLP Autoencoder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87337" y="14401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0.872 · CARE 0.699 · Event Recall 94.1% · Precision 88.9%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30137" y="1732788"/>
            <a:ext cx="4069080" cy="502920"/>
          </a:xfrm>
          <a:prstGeom prst="rect">
            <a:avLst/>
          </a:prstGeom>
          <a:solidFill>
            <a:srgbClr val="E8EDF4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30137" y="1732788"/>
            <a:ext cx="45720" cy="502920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839865" y="173278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87337" y="17693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NB2 — CNN-BiLSTM Autoencoder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87337" y="19888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0.865 · Event Recall 96.4% across 3 test events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30137" y="2281428"/>
            <a:ext cx="4069080" cy="502920"/>
          </a:xfrm>
          <a:prstGeom prst="rect">
            <a:avLst/>
          </a:prstGeom>
          <a:solidFill>
            <a:srgbClr val="F5E8E9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30137" y="2281428"/>
            <a:ext cx="45720" cy="502920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839865" y="228142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87337" y="23180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NB1 — CNN-LSTM (best supervised)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87337" y="25374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0.66 · F1 3.16% · LSTM alone: 0% across all metrics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30137" y="2903220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730137" y="2903220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812433" y="29032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50177" y="290322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outperforms supervised under severe imbalance — AUC-ROC 0.87 vs 0.66 maximum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30137" y="3342132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730137" y="3342132"/>
            <a:ext cx="36576" cy="347472"/>
          </a:xfrm>
          <a:prstGeom prst="rect">
            <a:avLst/>
          </a:prstGeom>
          <a:solidFill>
            <a:srgbClr val="7A2130"/>
          </a:solidFill>
          <a:ln w="12700">
            <a:solidFill>
              <a:srgbClr val="7A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812433" y="33421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50177" y="3342132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LSTM fails completely when train/test balance differs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30137" y="3781044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2730137" y="3781044"/>
            <a:ext cx="36576" cy="347472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2812433" y="37810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50177" y="3781044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Precision (~2-3%) is the main open problem — too many false alarms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30137" y="4219956"/>
            <a:ext cx="4069080" cy="347472"/>
          </a:xfrm>
          <a:prstGeom prst="rect">
            <a:avLst/>
          </a:prstGeom>
          <a:solidFill>
            <a:srgbClr val="FAF8F4"/>
          </a:solidFill>
          <a:ln w="1905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2730137" y="4219956"/>
            <a:ext cx="36576" cy="347472"/>
          </a:xfrm>
          <a:prstGeom prst="rect">
            <a:avLst/>
          </a:prstGeom>
          <a:solidFill>
            <a:srgbClr val="2A4E1C"/>
          </a:solidFill>
          <a:ln w="12700">
            <a:solidFill>
              <a:srgbClr val="2A4E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812433" y="42199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50177" y="4219956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evaluation is more operationally meaningful than sample-level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8321040" cy="27432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347472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356616" y="1500922"/>
            <a:ext cx="8321040" cy="2150147"/>
          </a:xfrm>
          <a:prstGeom prst="rect">
            <a:avLst/>
          </a:prstGeom>
          <a:solidFill>
            <a:srgbClr val="F5EDD7"/>
          </a:solidFill>
          <a:ln w="1905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2" name="Shape 50"/>
          <p:cNvSpPr/>
          <p:nvPr/>
        </p:nvSpPr>
        <p:spPr>
          <a:xfrm>
            <a:off x="356616" y="1541417"/>
            <a:ext cx="45720" cy="2109652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66344" y="1541416"/>
            <a:ext cx="8156448" cy="1979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high amount of False positives</a:t>
            </a:r>
            <a:b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 failure in the dataset using noise:</a:t>
            </a:r>
          </a:p>
          <a:p>
            <a:pPr marL="0" indent="0">
              <a:buNone/>
            </a:pPr>
            <a:endParaRPr lang="en-US" sz="2000" dirty="0">
              <a:solidFill>
                <a:srgbClr val="16161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labelling this new Induced Anomaly</a:t>
            </a:r>
          </a:p>
          <a:p>
            <a:r>
              <a:rPr lang="en-US" sz="2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Autoencoder: </a:t>
            </a:r>
            <a:r>
              <a:rPr lang="en-US" sz="2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with Normal data and check the reconstruction error for detecting the Induced Anomalies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66928" cy="36576"/>
          </a:xfrm>
          <a:prstGeom prst="rect">
            <a:avLst/>
          </a:prstGeom>
          <a:solidFill>
            <a:srgbClr val="1C2E52"/>
          </a:solidFill>
          <a:ln w="12700">
            <a:solidFill>
              <a:srgbClr val="1C2E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12801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i="1" dirty="0">
                <a:solidFill>
                  <a:srgbClr val="B07D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 Turbine Anomaly Detection  IC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43400" y="2743200"/>
            <a:ext cx="457200" cy="18288"/>
          </a:xfrm>
          <a:prstGeom prst="rect">
            <a:avLst/>
          </a:prstGeom>
          <a:solidFill>
            <a:srgbClr val="B07D2A"/>
          </a:solidFill>
          <a:ln w="12700">
            <a:solidFill>
              <a:srgbClr val="B07D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3081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CARE_To_Compare  Wind Farm 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2862072"/>
            <a:ext cx="9144" cy="457200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46120" y="2880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RESULT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46120" y="3081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0.872  Event Recall 94.1%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2862072"/>
            <a:ext cx="9144" cy="457200"/>
          </a:xfrm>
          <a:prstGeom prst="rect">
            <a:avLst/>
          </a:prstGeom>
          <a:solidFill>
            <a:srgbClr val="D8D2C5"/>
          </a:solidFill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080760" y="2880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A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80760" y="3081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Heleno 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8234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wind_turbine_cnn_lstm_paper.ipynb  wind_turbine_anomaly_detection_v4.ipynb  wind_turbine_autoencoder_keras_pipeline.ipynb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2940</Words>
  <Application>Microsoft Office PowerPoint</Application>
  <PresentationFormat>Apresentação na tela (16:9)</PresentationFormat>
  <Paragraphs>557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 Turbine Anomaly Detection — IC Research</dc:title>
  <dc:subject>PptxGenJS Presentation</dc:subject>
  <dc:creator>Thiago Heleno</dc:creator>
  <cp:lastModifiedBy>Thiago Heleno</cp:lastModifiedBy>
  <cp:revision>6</cp:revision>
  <dcterms:created xsi:type="dcterms:W3CDTF">2026-04-11T22:56:54Z</dcterms:created>
  <dcterms:modified xsi:type="dcterms:W3CDTF">2026-04-22T20:32:11Z</dcterms:modified>
</cp:coreProperties>
</file>